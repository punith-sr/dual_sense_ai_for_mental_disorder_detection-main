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0"/>
  </p:notesMasterIdLst>
  <p:sldIdLst>
    <p:sldId id="264" r:id="rId2"/>
    <p:sldId id="257" r:id="rId3"/>
    <p:sldId id="258" r:id="rId4"/>
    <p:sldId id="263" r:id="rId5"/>
    <p:sldId id="272" r:id="rId6"/>
    <p:sldId id="260" r:id="rId7"/>
    <p:sldId id="261" r:id="rId8"/>
    <p:sldId id="274" r:id="rId9"/>
    <p:sldId id="266" r:id="rId10"/>
    <p:sldId id="268" r:id="rId11"/>
    <p:sldId id="267" r:id="rId12"/>
    <p:sldId id="270" r:id="rId13"/>
    <p:sldId id="275" r:id="rId14"/>
    <p:sldId id="276" r:id="rId15"/>
    <p:sldId id="278" r:id="rId16"/>
    <p:sldId id="277" r:id="rId17"/>
    <p:sldId id="279" r:id="rId18"/>
    <p:sldId id="280" r:id="rId19"/>
    <p:sldId id="281" r:id="rId20"/>
    <p:sldId id="282" r:id="rId21"/>
    <p:sldId id="283" r:id="rId22"/>
    <p:sldId id="273" r:id="rId23"/>
    <p:sldId id="284" r:id="rId24"/>
    <p:sldId id="285" r:id="rId25"/>
    <p:sldId id="265" r:id="rId26"/>
    <p:sldId id="287" r:id="rId27"/>
    <p:sldId id="288" r:id="rId28"/>
    <p:sldId id="262" r:id="rId2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2" d="100"/>
          <a:sy n="62" d="100"/>
        </p:scale>
        <p:origin x="676" y="44"/>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C4331D8-1380-4152-B31E-2539C4B77B76}" type="datetimeFigureOut">
              <a:rPr lang="en-US" smtClean="0"/>
              <a:pPr/>
              <a:t>12/2/2024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AA295E5-691B-420D-B7B4-4F22B9E4B906}"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AA295E5-691B-420D-B7B4-4F22B9E4B906}" type="slidenum">
              <a:rPr lang="en-US" smtClean="0"/>
              <a:pPr/>
              <a:t>2</a:t>
            </a:fld>
            <a:endParaRPr lang="en-US"/>
          </a:p>
        </p:txBody>
      </p:sp>
    </p:spTree>
    <p:extLst>
      <p:ext uri="{BB962C8B-B14F-4D97-AF65-F5344CB8AC3E}">
        <p14:creationId xmlns:p14="http://schemas.microsoft.com/office/powerpoint/2010/main" val="3839372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AA295E5-691B-420D-B7B4-4F22B9E4B906}" type="slidenum">
              <a:rPr lang="en-US" smtClean="0"/>
              <a:pPr/>
              <a:t>8</a:t>
            </a:fld>
            <a:endParaRPr lang="en-US"/>
          </a:p>
        </p:txBody>
      </p:sp>
    </p:spTree>
    <p:extLst>
      <p:ext uri="{BB962C8B-B14F-4D97-AF65-F5344CB8AC3E}">
        <p14:creationId xmlns:p14="http://schemas.microsoft.com/office/powerpoint/2010/main" val="7113665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03DEC4F3-799D-4B30-ACA4-128DF9A25D8F}" type="datetime1">
              <a:rPr lang="en-IN" smtClean="0"/>
              <a:pPr/>
              <a:t>02-12-2024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DD4E219-0C0C-4937-870D-08D46E532289}" type="slidenum">
              <a:rPr lang="en-IN" smtClean="0"/>
              <a:pPr/>
              <a:t>‹#›</a:t>
            </a:fld>
            <a:endParaRPr lang="en-IN"/>
          </a:p>
        </p:txBody>
      </p:sp>
    </p:spTree>
    <p:extLst>
      <p:ext uri="{BB962C8B-B14F-4D97-AF65-F5344CB8AC3E}">
        <p14:creationId xmlns:p14="http://schemas.microsoft.com/office/powerpoint/2010/main" val="5972939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F556D206-6B7E-467B-B35D-2AA62E9A35E7}" type="datetime1">
              <a:rPr lang="en-IN" smtClean="0"/>
              <a:pPr/>
              <a:t>02-12-2024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DD4E219-0C0C-4937-870D-08D46E532289}" type="slidenum">
              <a:rPr lang="en-IN" smtClean="0"/>
              <a:pPr/>
              <a:t>‹#›</a:t>
            </a:fld>
            <a:endParaRPr lang="en-IN"/>
          </a:p>
        </p:txBody>
      </p:sp>
    </p:spTree>
    <p:extLst>
      <p:ext uri="{BB962C8B-B14F-4D97-AF65-F5344CB8AC3E}">
        <p14:creationId xmlns:p14="http://schemas.microsoft.com/office/powerpoint/2010/main" val="15552393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0B7987D-73F8-4081-9B30-5A598C8D32B9}" type="datetime1">
              <a:rPr lang="en-IN" smtClean="0"/>
              <a:pPr/>
              <a:t>02-12-2024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DD4E219-0C0C-4937-870D-08D46E532289}" type="slidenum">
              <a:rPr lang="en-IN" smtClean="0"/>
              <a:pPr/>
              <a:t>‹#›</a:t>
            </a:fld>
            <a:endParaRPr lang="en-IN"/>
          </a:p>
        </p:txBody>
      </p:sp>
    </p:spTree>
    <p:extLst>
      <p:ext uri="{BB962C8B-B14F-4D97-AF65-F5344CB8AC3E}">
        <p14:creationId xmlns:p14="http://schemas.microsoft.com/office/powerpoint/2010/main" val="27413667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9903C6E7-43F8-4A38-A6C3-D43647B4DD8D}" type="datetime1">
              <a:rPr lang="en-IN" smtClean="0"/>
              <a:pPr/>
              <a:t>02-12-2024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DD4E219-0C0C-4937-870D-08D46E532289}" type="slidenum">
              <a:rPr lang="en-IN" smtClean="0"/>
              <a:pPr/>
              <a:t>‹#›</a:t>
            </a:fld>
            <a:endParaRPr lang="en-IN"/>
          </a:p>
        </p:txBody>
      </p:sp>
    </p:spTree>
    <p:extLst>
      <p:ext uri="{BB962C8B-B14F-4D97-AF65-F5344CB8AC3E}">
        <p14:creationId xmlns:p14="http://schemas.microsoft.com/office/powerpoint/2010/main" val="41674954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7EE02365-ECBC-4B68-8DE4-E324E0684840}" type="datetime1">
              <a:rPr lang="en-IN" smtClean="0"/>
              <a:pPr/>
              <a:t>02-12-2024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2DD4E219-0C0C-4937-870D-08D46E532289}" type="slidenum">
              <a:rPr lang="en-IN" smtClean="0"/>
              <a:pPr/>
              <a:t>‹#›</a:t>
            </a:fld>
            <a:endParaRPr lang="en-IN"/>
          </a:p>
        </p:txBody>
      </p:sp>
    </p:spTree>
    <p:extLst>
      <p:ext uri="{BB962C8B-B14F-4D97-AF65-F5344CB8AC3E}">
        <p14:creationId xmlns:p14="http://schemas.microsoft.com/office/powerpoint/2010/main" val="16166308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111E2FB9-09F8-461C-822C-F87AB9E712F1}" type="datetime1">
              <a:rPr lang="en-IN" smtClean="0"/>
              <a:pPr/>
              <a:t>02-12-2024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2DD4E219-0C0C-4937-870D-08D46E532289}" type="slidenum">
              <a:rPr lang="en-IN" smtClean="0"/>
              <a:pPr/>
              <a:t>‹#›</a:t>
            </a:fld>
            <a:endParaRPr lang="en-IN"/>
          </a:p>
        </p:txBody>
      </p:sp>
    </p:spTree>
    <p:extLst>
      <p:ext uri="{BB962C8B-B14F-4D97-AF65-F5344CB8AC3E}">
        <p14:creationId xmlns:p14="http://schemas.microsoft.com/office/powerpoint/2010/main" val="1148419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2058980-6964-406B-8E07-1738053AD700}" type="datetime1">
              <a:rPr lang="en-IN" smtClean="0"/>
              <a:pPr/>
              <a:t>02-12-2024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2DD4E219-0C0C-4937-870D-08D46E532289}" type="slidenum">
              <a:rPr lang="en-IN" smtClean="0"/>
              <a:pPr/>
              <a:t>‹#›</a:t>
            </a:fld>
            <a:endParaRPr lang="en-IN"/>
          </a:p>
        </p:txBody>
      </p:sp>
    </p:spTree>
    <p:extLst>
      <p:ext uri="{BB962C8B-B14F-4D97-AF65-F5344CB8AC3E}">
        <p14:creationId xmlns:p14="http://schemas.microsoft.com/office/powerpoint/2010/main" val="26417052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BB0511D-4BC4-4CAC-850D-96DEC5B49D1A}" type="datetime1">
              <a:rPr lang="en-IN" smtClean="0"/>
              <a:pPr/>
              <a:t>02-12-2024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DD4E219-0C0C-4937-870D-08D46E532289}" type="slidenum">
              <a:rPr lang="en-IN" smtClean="0"/>
              <a:pPr/>
              <a:t>‹#›</a:t>
            </a:fld>
            <a:endParaRPr lang="en-IN"/>
          </a:p>
        </p:txBody>
      </p:sp>
    </p:spTree>
    <p:extLst>
      <p:ext uri="{BB962C8B-B14F-4D97-AF65-F5344CB8AC3E}">
        <p14:creationId xmlns:p14="http://schemas.microsoft.com/office/powerpoint/2010/main" val="32050113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8F0C436-B595-4DE7-AAF5-6C3EAE4AC70A}" type="datetime1">
              <a:rPr lang="en-IN" smtClean="0"/>
              <a:pPr/>
              <a:t>02-12-2024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DD4E219-0C0C-4937-870D-08D46E532289}" type="slidenum">
              <a:rPr lang="en-IN" smtClean="0"/>
              <a:pPr/>
              <a:t>‹#›</a:t>
            </a:fld>
            <a:endParaRPr lang="en-IN"/>
          </a:p>
        </p:txBody>
      </p:sp>
    </p:spTree>
    <p:extLst>
      <p:ext uri="{BB962C8B-B14F-4D97-AF65-F5344CB8AC3E}">
        <p14:creationId xmlns:p14="http://schemas.microsoft.com/office/powerpoint/2010/main" val="14357795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8362BFC3-0CF9-4CEB-8DD4-AC7FE80645A0}" type="datetime1">
              <a:rPr lang="en-IN" smtClean="0"/>
              <a:pPr/>
              <a:t>02-12-2024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DD4E219-0C0C-4937-870D-08D46E532289}" type="slidenum">
              <a:rPr lang="en-IN" smtClean="0"/>
              <a:pPr/>
              <a:t>‹#›</a:t>
            </a:fld>
            <a:endParaRPr lang="en-IN"/>
          </a:p>
        </p:txBody>
      </p:sp>
    </p:spTree>
    <p:extLst>
      <p:ext uri="{BB962C8B-B14F-4D97-AF65-F5344CB8AC3E}">
        <p14:creationId xmlns:p14="http://schemas.microsoft.com/office/powerpoint/2010/main" val="12823898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AF5045C2-0E87-4605-8DD2-D2B065ECB1A3}" type="datetime1">
              <a:rPr lang="en-IN" smtClean="0"/>
              <a:pPr/>
              <a:t>02-12-2024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DD4E219-0C0C-4937-870D-08D46E532289}" type="slidenum">
              <a:rPr lang="en-IN" smtClean="0"/>
              <a:pPr/>
              <a:t>‹#›</a:t>
            </a:fld>
            <a:endParaRPr lang="en-IN"/>
          </a:p>
        </p:txBody>
      </p:sp>
    </p:spTree>
    <p:extLst>
      <p:ext uri="{BB962C8B-B14F-4D97-AF65-F5344CB8AC3E}">
        <p14:creationId xmlns:p14="http://schemas.microsoft.com/office/powerpoint/2010/main" val="15677293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713FB7E-E051-46AA-ADB3-2CFF9DB79A8C}" type="datetime1">
              <a:rPr lang="en-IN" smtClean="0"/>
              <a:pPr/>
              <a:t>02-12-2024</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DD4E219-0C0C-4937-870D-08D46E532289}" type="slidenum">
              <a:rPr lang="en-IN" smtClean="0"/>
              <a:pPr/>
              <a:t>‹#›</a:t>
            </a:fld>
            <a:endParaRPr lang="en-IN"/>
          </a:p>
        </p:txBody>
      </p:sp>
    </p:spTree>
    <p:extLst>
      <p:ext uri="{BB962C8B-B14F-4D97-AF65-F5344CB8AC3E}">
        <p14:creationId xmlns:p14="http://schemas.microsoft.com/office/powerpoint/2010/main" val="30484166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14282" y="1857364"/>
            <a:ext cx="8643998" cy="1143009"/>
          </a:xfrm>
        </p:spPr>
        <p:txBody>
          <a:bodyPr>
            <a:normAutofit/>
          </a:bodyPr>
          <a:lstStyle/>
          <a:p>
            <a:r>
              <a:rPr lang="en-US" sz="2200" b="1" dirty="0">
                <a:latin typeface="Times New Roman" panose="02020603050405020304" pitchFamily="18" charset="0"/>
                <a:cs typeface="Times New Roman" panose="02020603050405020304" pitchFamily="18" charset="0"/>
              </a:rPr>
              <a:t>DEPARTMENT OF COMPUTER SCIENCE &amp; ENGINEERING</a:t>
            </a:r>
            <a:br>
              <a:rPr lang="en-IN" dirty="0"/>
            </a:br>
            <a:endParaRPr lang="en-IN" dirty="0"/>
          </a:p>
        </p:txBody>
      </p:sp>
      <p:sp>
        <p:nvSpPr>
          <p:cNvPr id="3" name="Subtitle 2"/>
          <p:cNvSpPr>
            <a:spLocks noGrp="1"/>
          </p:cNvSpPr>
          <p:nvPr>
            <p:ph type="subTitle" idx="1"/>
          </p:nvPr>
        </p:nvSpPr>
        <p:spPr>
          <a:xfrm>
            <a:off x="1428728" y="2623079"/>
            <a:ext cx="6400800" cy="805921"/>
          </a:xfrm>
        </p:spPr>
        <p:txBody>
          <a:bodyPr>
            <a:normAutofit lnSpcReduction="10000"/>
          </a:bodyPr>
          <a:lstStyle/>
          <a:p>
            <a:pPr algn="ctr"/>
            <a:r>
              <a:rPr lang="en-US" sz="2400" b="1" cap="all" dirty="0">
                <a:solidFill>
                  <a:schemeClr val="tx1"/>
                </a:solidFill>
                <a:latin typeface="Times New Roman" panose="02020603050405020304" pitchFamily="18" charset="0"/>
                <a:cs typeface="Times New Roman" panose="02020603050405020304" pitchFamily="18" charset="0"/>
              </a:rPr>
              <a:t> “Dual sense ai for mental disorder detection”</a:t>
            </a:r>
          </a:p>
          <a:p>
            <a:endParaRPr lang="en-IN" sz="2400" dirty="0">
              <a:solidFill>
                <a:schemeClr val="tx1"/>
              </a:solidFill>
              <a:latin typeface="Times New Roman" panose="02020603050405020304" pitchFamily="18" charset="0"/>
              <a:cs typeface="Times New Roman" panose="02020603050405020304" pitchFamily="18" charset="0"/>
            </a:endParaRPr>
          </a:p>
          <a:p>
            <a:endParaRPr lang="en-IN" sz="2400" dirty="0">
              <a:solidFill>
                <a:schemeClr val="tx1"/>
              </a:solidFill>
              <a:latin typeface="Times New Roman" panose="02020603050405020304" pitchFamily="18" charset="0"/>
              <a:cs typeface="Times New Roman" panose="02020603050405020304" pitchFamily="18" charset="0"/>
            </a:endParaRPr>
          </a:p>
          <a:p>
            <a:endParaRPr lang="en-IN" dirty="0"/>
          </a:p>
        </p:txBody>
      </p:sp>
      <p:sp>
        <p:nvSpPr>
          <p:cNvPr id="1025" name="Rectangle 1"/>
          <p:cNvSpPr>
            <a:spLocks noChangeArrowheads="1"/>
          </p:cNvSpPr>
          <p:nvPr/>
        </p:nvSpPr>
        <p:spPr bwMode="auto">
          <a:xfrm>
            <a:off x="381000" y="1219200"/>
            <a:ext cx="8045985" cy="646331"/>
          </a:xfrm>
          <a:prstGeom prst="rect">
            <a:avLst/>
          </a:prstGeom>
          <a:noFill/>
          <a:ln w="9525">
            <a:noFill/>
            <a:miter lim="800000"/>
          </a:ln>
          <a:effectLst/>
        </p:spPr>
        <p:txBody>
          <a:bodyPr vert="horz" wrap="none" lIns="91440" tIns="45720" rIns="91440" bIns="45720" numCol="1" anchor="ctr" anchorCtr="0" compatLnSpc="1">
            <a:spAutoFit/>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3600" b="1" i="0" u="none" strike="noStrike" cap="none" normalizeH="0" baseline="0" dirty="0">
                <a:ln>
                  <a:noFill/>
                </a:ln>
                <a:effectLst/>
                <a:latin typeface="Times New Roman" panose="02020603050405020304" pitchFamily="18" charset="0"/>
                <a:cs typeface="Times New Roman" panose="02020603050405020304" pitchFamily="18" charset="0"/>
              </a:rPr>
              <a:t>SDM</a:t>
            </a:r>
            <a:r>
              <a:rPr kumimoji="0" lang="en-US" sz="3600" b="1" i="0" u="none" strike="noStrike" cap="none" normalizeH="0" dirty="0">
                <a:ln>
                  <a:noFill/>
                </a:ln>
                <a:effectLst/>
                <a:latin typeface="Times New Roman" panose="02020603050405020304" pitchFamily="18" charset="0"/>
                <a:cs typeface="Times New Roman" panose="02020603050405020304" pitchFamily="18" charset="0"/>
              </a:rPr>
              <a:t> </a:t>
            </a:r>
            <a:r>
              <a:rPr kumimoji="0" lang="en-US" sz="3600" b="1" i="0" u="none" strike="noStrike" cap="none" normalizeH="0" baseline="0" dirty="0">
                <a:ln>
                  <a:noFill/>
                </a:ln>
                <a:effectLst/>
                <a:latin typeface="Times New Roman" panose="02020603050405020304" pitchFamily="18" charset="0"/>
                <a:cs typeface="Times New Roman" panose="02020603050405020304" pitchFamily="18" charset="0"/>
              </a:rPr>
              <a:t>INSTITUTE OF TECHNOLOGY</a:t>
            </a:r>
            <a:endParaRPr kumimoji="0" lang="en-US" sz="3600" b="0" i="0" u="none" strike="noStrike" cap="none" normalizeH="0" baseline="0" dirty="0">
              <a:ln>
                <a:noFill/>
              </a:ln>
              <a:effectLst/>
              <a:latin typeface="Arial" panose="020B0604020202020204" pitchFamily="34" charset="0"/>
              <a:cs typeface="Arial" panose="020B0604020202020204" pitchFamily="34" charset="0"/>
            </a:endParaRPr>
          </a:p>
        </p:txBody>
      </p:sp>
      <p:pic>
        <p:nvPicPr>
          <p:cNvPr id="7" name="Picture 6" descr="logo_ujire"/>
          <p:cNvPicPr/>
          <p:nvPr/>
        </p:nvPicPr>
        <p:blipFill>
          <a:blip r:embed="rId2" cstate="print"/>
          <a:srcRect/>
          <a:stretch>
            <a:fillRect/>
          </a:stretch>
        </p:blipFill>
        <p:spPr bwMode="auto">
          <a:xfrm>
            <a:off x="3786182" y="142852"/>
            <a:ext cx="1061085" cy="1152548"/>
          </a:xfrm>
          <a:prstGeom prst="rect">
            <a:avLst/>
          </a:prstGeom>
          <a:noFill/>
          <a:ln w="9525">
            <a:noFill/>
            <a:miter lim="800000"/>
            <a:headEnd/>
            <a:tailEnd/>
          </a:ln>
        </p:spPr>
      </p:pic>
      <p:sp>
        <p:nvSpPr>
          <p:cNvPr id="8" name="TextBox 7"/>
          <p:cNvSpPr txBox="1"/>
          <p:nvPr/>
        </p:nvSpPr>
        <p:spPr>
          <a:xfrm>
            <a:off x="304800" y="4648200"/>
            <a:ext cx="8121015" cy="2120068"/>
          </a:xfrm>
          <a:prstGeom prst="rect">
            <a:avLst/>
          </a:prstGeom>
          <a:noFill/>
        </p:spPr>
        <p:txBody>
          <a:bodyPr wrap="square" rtlCol="0">
            <a:spAutoFit/>
          </a:bodyPr>
          <a:lstStyle/>
          <a:p>
            <a:pPr algn="r">
              <a:lnSpc>
                <a:spcPct val="150000"/>
              </a:lnSpc>
            </a:pPr>
            <a:r>
              <a:rPr lang="en-US" b="1" dirty="0">
                <a:latin typeface="Times New Roman" panose="02020603050405020304" pitchFamily="18" charset="0"/>
                <a:cs typeface="Times New Roman" panose="02020603050405020304" pitchFamily="18" charset="0"/>
              </a:rPr>
              <a:t>Presented By</a:t>
            </a:r>
          </a:p>
          <a:p>
            <a:pPr algn="r">
              <a:lnSpc>
                <a:spcPct val="150000"/>
              </a:lnSpc>
            </a:pPr>
            <a:r>
              <a:rPr lang="en-US" b="1" dirty="0">
                <a:latin typeface="Times New Roman" panose="02020603050405020304" pitchFamily="18" charset="0"/>
                <a:cs typeface="Times New Roman" panose="02020603050405020304" pitchFamily="18" charset="0"/>
              </a:rPr>
              <a:t>Bhavana G</a:t>
            </a:r>
          </a:p>
          <a:p>
            <a:pPr algn="r">
              <a:lnSpc>
                <a:spcPct val="150000"/>
              </a:lnSpc>
            </a:pPr>
            <a:r>
              <a:rPr lang="en-US" b="1" dirty="0">
                <a:latin typeface="Times New Roman" panose="02020603050405020304" pitchFamily="18" charset="0"/>
                <a:cs typeface="Times New Roman" panose="02020603050405020304" pitchFamily="18" charset="0"/>
              </a:rPr>
              <a:t>Chaitanya</a:t>
            </a:r>
          </a:p>
          <a:p>
            <a:pPr algn="r">
              <a:lnSpc>
                <a:spcPct val="150000"/>
              </a:lnSpc>
            </a:pPr>
            <a:r>
              <a:rPr lang="en-US" b="1" dirty="0">
                <a:latin typeface="Times New Roman" panose="02020603050405020304" pitchFamily="18" charset="0"/>
                <a:cs typeface="Times New Roman" panose="02020603050405020304" pitchFamily="18" charset="0"/>
              </a:rPr>
              <a:t>Chaitra </a:t>
            </a:r>
          </a:p>
          <a:p>
            <a:pPr algn="r">
              <a:lnSpc>
                <a:spcPct val="150000"/>
              </a:lnSpc>
            </a:pPr>
            <a:r>
              <a:rPr lang="en-US" b="1" dirty="0">
                <a:latin typeface="Times New Roman" panose="02020603050405020304" pitchFamily="18" charset="0"/>
                <a:cs typeface="Times New Roman" panose="02020603050405020304" pitchFamily="18" charset="0"/>
              </a:rPr>
              <a:t>Manasa Gond</a:t>
            </a:r>
          </a:p>
        </p:txBody>
      </p:sp>
      <p:sp>
        <p:nvSpPr>
          <p:cNvPr id="11" name="TextBox 10"/>
          <p:cNvSpPr txBox="1"/>
          <p:nvPr/>
        </p:nvSpPr>
        <p:spPr>
          <a:xfrm>
            <a:off x="2362200" y="3276600"/>
            <a:ext cx="4857784" cy="1631216"/>
          </a:xfrm>
          <a:prstGeom prst="rect">
            <a:avLst/>
          </a:prstGeom>
          <a:noFill/>
        </p:spPr>
        <p:txBody>
          <a:bodyPr wrap="square" rtlCol="0">
            <a:spAutoFit/>
          </a:bodyPr>
          <a:lstStyle/>
          <a:p>
            <a:pPr algn="ctr"/>
            <a:endParaRPr lang="en-US" sz="2000" b="1" dirty="0">
              <a:latin typeface="Times New Roman" panose="02020603050405020304" pitchFamily="18" charset="0"/>
              <a:cs typeface="Times New Roman" panose="02020603050405020304" pitchFamily="18" charset="0"/>
            </a:endParaRPr>
          </a:p>
          <a:p>
            <a:pPr algn="ctr"/>
            <a:r>
              <a:rPr lang="en-US" sz="2000" b="1" dirty="0">
                <a:latin typeface="Times New Roman" panose="02020603050405020304" pitchFamily="18" charset="0"/>
                <a:cs typeface="Times New Roman" panose="02020603050405020304" pitchFamily="18" charset="0"/>
              </a:rPr>
              <a:t>Under the guidance of  </a:t>
            </a:r>
          </a:p>
          <a:p>
            <a:pPr algn="ctr"/>
            <a:r>
              <a:rPr lang="en-US" sz="2400" b="1"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Dr. </a:t>
            </a:r>
            <a:r>
              <a:rPr lang="en-US" sz="2000" b="1" dirty="0" err="1">
                <a:latin typeface="Times New Roman" panose="02020603050405020304" pitchFamily="18" charset="0"/>
                <a:cs typeface="Times New Roman" panose="02020603050405020304" pitchFamily="18" charset="0"/>
              </a:rPr>
              <a:t>Suchetha</a:t>
            </a:r>
            <a:r>
              <a:rPr lang="en-US" sz="2000" b="1" dirty="0">
                <a:latin typeface="Times New Roman" panose="02020603050405020304" pitchFamily="18" charset="0"/>
                <a:cs typeface="Times New Roman" panose="02020603050405020304" pitchFamily="18" charset="0"/>
              </a:rPr>
              <a:t> N V</a:t>
            </a:r>
          </a:p>
          <a:p>
            <a:pPr algn="ctr"/>
            <a:r>
              <a:rPr lang="en-US" b="1" dirty="0">
                <a:latin typeface="Times New Roman" panose="02020603050405020304" pitchFamily="18" charset="0"/>
                <a:cs typeface="Times New Roman" panose="02020603050405020304" pitchFamily="18" charset="0"/>
              </a:rPr>
              <a:t>Department of CSE</a:t>
            </a:r>
          </a:p>
          <a:p>
            <a:pPr algn="ctr"/>
            <a:r>
              <a:rPr lang="en-US" b="1" dirty="0">
                <a:latin typeface="Times New Roman" panose="02020603050405020304" pitchFamily="18" charset="0"/>
                <a:cs typeface="Times New Roman" panose="02020603050405020304" pitchFamily="18" charset="0"/>
              </a:rPr>
              <a:t>SDMIT, </a:t>
            </a:r>
            <a:r>
              <a:rPr lang="en-US" b="1" dirty="0" err="1">
                <a:latin typeface="Times New Roman" panose="02020603050405020304" pitchFamily="18" charset="0"/>
                <a:cs typeface="Times New Roman" panose="02020603050405020304" pitchFamily="18" charset="0"/>
              </a:rPr>
              <a:t>Ujire</a:t>
            </a:r>
            <a:endParaRPr lang="en-IN" b="1" dirty="0">
              <a:latin typeface="Times New Roman" panose="02020603050405020304" pitchFamily="18" charset="0"/>
              <a:cs typeface="Times New Roman" panose="02020603050405020304" pitchFamily="18" charset="0"/>
            </a:endParaRPr>
          </a:p>
        </p:txBody>
      </p:sp>
      <p:sp>
        <p:nvSpPr>
          <p:cNvPr id="9" name="TextBox 8"/>
          <p:cNvSpPr txBox="1"/>
          <p:nvPr/>
        </p:nvSpPr>
        <p:spPr>
          <a:xfrm>
            <a:off x="357158" y="5500702"/>
            <a:ext cx="2000264" cy="614045"/>
          </a:xfrm>
          <a:prstGeom prst="rect">
            <a:avLst/>
          </a:prstGeom>
          <a:noFill/>
        </p:spPr>
        <p:txBody>
          <a:bodyPr wrap="square" rtlCol="0">
            <a:spAutoFit/>
          </a:bodyPr>
          <a:lstStyle/>
          <a:p>
            <a:r>
              <a:rPr lang="en-US" sz="1600" b="1" dirty="0">
                <a:latin typeface="Times New Roman" panose="02020603050405020304" pitchFamily="18" charset="0"/>
                <a:cs typeface="Times New Roman" panose="02020603050405020304" pitchFamily="18" charset="0"/>
              </a:rPr>
              <a:t>TEAM ID: </a:t>
            </a:r>
            <a:r>
              <a:rPr lang="en-US" b="1" dirty="0">
                <a:latin typeface="Times New Roman" panose="02020603050405020304" pitchFamily="18" charset="0"/>
                <a:cs typeface="Times New Roman" panose="02020603050405020304" pitchFamily="18" charset="0"/>
              </a:rPr>
              <a:t>2024CSEPT5</a:t>
            </a:r>
            <a:endParaRPr lang="en-IN"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lstStyle/>
          <a:p>
            <a:r>
              <a:rPr lang="en-IN" sz="3200" b="1" dirty="0">
                <a:latin typeface="Times New Roman" pitchFamily="18" charset="0"/>
                <a:cs typeface="Times New Roman" pitchFamily="18" charset="0"/>
              </a:rPr>
              <a:t>INTRODUCTION</a:t>
            </a:r>
            <a:endParaRPr lang="en-IN" sz="1800" dirty="0">
              <a:latin typeface="Times New Roman" pitchFamily="18" charset="0"/>
              <a:cs typeface="Times New Roman" pitchFamily="18" charset="0"/>
            </a:endParaRPr>
          </a:p>
        </p:txBody>
      </p:sp>
      <p:sp>
        <p:nvSpPr>
          <p:cNvPr id="3" name="Content Placeholder 2"/>
          <p:cNvSpPr>
            <a:spLocks noGrp="1"/>
          </p:cNvSpPr>
          <p:nvPr>
            <p:ph idx="1"/>
          </p:nvPr>
        </p:nvSpPr>
        <p:spPr>
          <a:xfrm>
            <a:off x="457200" y="1143000"/>
            <a:ext cx="8229600" cy="5578475"/>
          </a:xfrm>
        </p:spPr>
        <p:txBody>
          <a:bodyPr>
            <a:normAutofit fontScale="92500"/>
          </a:bodyPr>
          <a:lstStyle/>
          <a:p>
            <a:pPr algn="just">
              <a:lnSpc>
                <a:spcPct val="150000"/>
              </a:lnSpc>
            </a:pPr>
            <a:r>
              <a:rPr lang="en-US" sz="2600" dirty="0">
                <a:latin typeface="Times New Roman" pitchFamily="18" charset="0"/>
                <a:cs typeface="Times New Roman" pitchFamily="18" charset="0"/>
              </a:rPr>
              <a:t>Mental health disorders affect millions of people globally, leading to decreased quality of life, and challenges in diagnosis and treatment.</a:t>
            </a:r>
          </a:p>
          <a:p>
            <a:pPr algn="just">
              <a:lnSpc>
                <a:spcPct val="150000"/>
              </a:lnSpc>
            </a:pPr>
            <a:r>
              <a:rPr lang="en-US" sz="2600" dirty="0">
                <a:latin typeface="Times New Roman" pitchFamily="18" charset="0"/>
                <a:cs typeface="Times New Roman" pitchFamily="18" charset="0"/>
              </a:rPr>
              <a:t>With the rise of artificial intelligence (AI), advanced tools can analyze vast datasets more effectively, identifying subtle patterns that could indicate mental health disorders</a:t>
            </a:r>
            <a:r>
              <a:rPr lang="en-US" sz="2800" dirty="0">
                <a:latin typeface="Times New Roman" pitchFamily="18" charset="0"/>
                <a:cs typeface="Times New Roman" pitchFamily="18" charset="0"/>
              </a:rPr>
              <a:t>. </a:t>
            </a:r>
          </a:p>
          <a:p>
            <a:pPr algn="just">
              <a:lnSpc>
                <a:spcPct val="150000"/>
              </a:lnSpc>
            </a:pPr>
            <a:r>
              <a:rPr lang="en-US" sz="2600" dirty="0">
                <a:latin typeface="Times New Roman" pitchFamily="18" charset="0"/>
                <a:cs typeface="Times New Roman" pitchFamily="18" charset="0"/>
              </a:rPr>
              <a:t>This project proposes the use of Dual Sense AI, leveraging deep learning to detect mental disorders by analyzing multi-modal data sources like voice, text, and facial expressions.</a:t>
            </a:r>
            <a:endParaRPr lang="en-IN" sz="2600" dirty="0">
              <a:latin typeface="Times New Roman" pitchFamily="18" charset="0"/>
              <a:cs typeface="Times New Roman" pitchFamily="18" charset="0"/>
            </a:endParaRPr>
          </a:p>
          <a:p>
            <a:pPr marL="0" indent="0" algn="just">
              <a:buNone/>
            </a:pPr>
            <a:endParaRPr lang="en-IN" sz="2800" dirty="0">
              <a:latin typeface="Times New Roman" pitchFamily="18" charset="0"/>
              <a:cs typeface="Times New Roman" pitchFamily="18" charset="0"/>
            </a:endParaRPr>
          </a:p>
          <a:p>
            <a:pPr marL="0" indent="0">
              <a:buNone/>
            </a:pPr>
            <a:endParaRPr lang="en-IN" dirty="0"/>
          </a:p>
        </p:txBody>
      </p:sp>
      <p:sp>
        <p:nvSpPr>
          <p:cNvPr id="4" name="Slide Number Placeholder 3"/>
          <p:cNvSpPr>
            <a:spLocks noGrp="1"/>
          </p:cNvSpPr>
          <p:nvPr>
            <p:ph type="sldNum" sz="quarter" idx="12"/>
          </p:nvPr>
        </p:nvSpPr>
        <p:spPr/>
        <p:txBody>
          <a:bodyPr/>
          <a:lstStyle/>
          <a:p>
            <a:fld id="{2DD4E219-0C0C-4937-870D-08D46E532289}" type="slidenum">
              <a:rPr lang="en-IN" smtClean="0"/>
              <a:pPr/>
              <a:t>2</a:t>
            </a:fld>
            <a:endParaRPr lang="en-IN"/>
          </a:p>
        </p:txBody>
      </p:sp>
    </p:spTree>
    <p:extLst>
      <p:ext uri="{BB962C8B-B14F-4D97-AF65-F5344CB8AC3E}">
        <p14:creationId xmlns:p14="http://schemas.microsoft.com/office/powerpoint/2010/main" val="23455009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normAutofit/>
          </a:bodyPr>
          <a:lstStyle/>
          <a:p>
            <a:r>
              <a:rPr lang="en-IN" sz="3200" b="1" dirty="0">
                <a:latin typeface="Times New Roman" pitchFamily="18" charset="0"/>
                <a:cs typeface="Times New Roman" pitchFamily="18" charset="0"/>
              </a:rPr>
              <a:t>LITERATURE SURVEY</a:t>
            </a:r>
          </a:p>
        </p:txBody>
      </p:sp>
      <p:sp>
        <p:nvSpPr>
          <p:cNvPr id="3" name="Content Placeholder 2"/>
          <p:cNvSpPr>
            <a:spLocks noGrp="1"/>
          </p:cNvSpPr>
          <p:nvPr>
            <p:ph idx="1"/>
          </p:nvPr>
        </p:nvSpPr>
        <p:spPr>
          <a:xfrm>
            <a:off x="457200" y="1029493"/>
            <a:ext cx="8229600" cy="5691981"/>
          </a:xfrm>
        </p:spPr>
        <p:txBody>
          <a:bodyPr>
            <a:noAutofit/>
          </a:bodyPr>
          <a:lstStyle/>
          <a:p>
            <a:pPr algn="just">
              <a:lnSpc>
                <a:spcPct val="150000"/>
              </a:lnSpc>
            </a:pPr>
            <a:r>
              <a:rPr lang="en-US" sz="2400" dirty="0">
                <a:latin typeface="Times New Roman" pitchFamily="18" charset="0"/>
                <a:cs typeface="Times New Roman" pitchFamily="18" charset="0"/>
              </a:rPr>
              <a:t>The research paper titled "An Automated System for Depression Detection Based on Facial and Vocal Features" has the dataset named “FER(2013)”, “Positive and Negative WordPress” and the models used are CNN(Facial Expression Detection) and Naïve Bayes Classifier(vocal detection).</a:t>
            </a:r>
          </a:p>
          <a:p>
            <a:pPr algn="just">
              <a:lnSpc>
                <a:spcPct val="150000"/>
              </a:lnSpc>
            </a:pPr>
            <a:r>
              <a:rPr lang="en-US" sz="2400" dirty="0">
                <a:latin typeface="Times New Roman" pitchFamily="18" charset="0"/>
                <a:cs typeface="Times New Roman" pitchFamily="18" charset="0"/>
              </a:rPr>
              <a:t>The research paper titled “An AI-based Decision Support System for Predicting Mental Health Disorders” has the dataset named “SCL-90-R” and the models used are Logistic Regression(Ridge and Lasso),Random Forest(RF),Support Vector Machines(NEPAR)</a:t>
            </a:r>
            <a:endParaRPr lang="en-IN" sz="24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2DD4E219-0C0C-4937-870D-08D46E532289}" type="slidenum">
              <a:rPr lang="en-IN" smtClean="0"/>
              <a:pPr/>
              <a:t>3</a:t>
            </a:fld>
            <a:endParaRPr lang="en-IN"/>
          </a:p>
        </p:txBody>
      </p:sp>
    </p:spTree>
    <p:extLst>
      <p:ext uri="{BB962C8B-B14F-4D97-AF65-F5344CB8AC3E}">
        <p14:creationId xmlns:p14="http://schemas.microsoft.com/office/powerpoint/2010/main" val="37020607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36524"/>
            <a:ext cx="8229600" cy="6416675"/>
          </a:xfrm>
        </p:spPr>
        <p:txBody>
          <a:bodyPr>
            <a:noAutofit/>
          </a:bodyPr>
          <a:lstStyle/>
          <a:p>
            <a:pPr algn="just">
              <a:lnSpc>
                <a:spcPct val="170000"/>
              </a:lnSpc>
            </a:pPr>
            <a:r>
              <a:rPr lang="en-US" sz="2400" dirty="0">
                <a:latin typeface="Times New Roman" pitchFamily="18" charset="0"/>
                <a:cs typeface="Times New Roman" pitchFamily="18" charset="0"/>
              </a:rPr>
              <a:t>The research paper titled “A deep Learning Approach Towards Multimodal Stress Detection" has the dataset named “</a:t>
            </a:r>
            <a:r>
              <a:rPr lang="en-US" sz="2400" dirty="0" err="1">
                <a:latin typeface="Times New Roman" pitchFamily="18" charset="0"/>
                <a:cs typeface="Times New Roman" pitchFamily="18" charset="0"/>
              </a:rPr>
              <a:t>MuSE</a:t>
            </a:r>
            <a:r>
              <a:rPr lang="en-US" sz="2400" dirty="0">
                <a:latin typeface="Times New Roman" pitchFamily="18" charset="0"/>
                <a:cs typeface="Times New Roman" pitchFamily="18" charset="0"/>
              </a:rPr>
              <a:t>” and the models used are Convolutional-Autoencoders and Recurrent Neural Networks.</a:t>
            </a:r>
          </a:p>
          <a:p>
            <a:pPr algn="just">
              <a:lnSpc>
                <a:spcPct val="170000"/>
              </a:lnSpc>
            </a:pPr>
            <a:r>
              <a:rPr lang="en-US" sz="2400" dirty="0">
                <a:latin typeface="Times New Roman" pitchFamily="18" charset="0"/>
                <a:cs typeface="Times New Roman" pitchFamily="18" charset="0"/>
              </a:rPr>
              <a:t>The research paper titled “A  Multimodal Deep Learning Framework for Mental Disorder Analysis" has the dataset named “Bipolar Disorder Corpus(BDC)”, “Extended Distress Analysis Interview Corpus(E-DAIC)”, “AVEC2019” and the models used are multi-DDAE, Fisher Vector(FV),Paragraph Vector (PV) and Deep Neural Network(DNN).</a:t>
            </a:r>
          </a:p>
          <a:p>
            <a:pPr marL="0" indent="0" algn="just">
              <a:lnSpc>
                <a:spcPct val="170000"/>
              </a:lnSpc>
              <a:buNone/>
            </a:pPr>
            <a:endParaRPr lang="en-US" sz="2400" dirty="0">
              <a:latin typeface="Times New Roman" pitchFamily="18" charset="0"/>
              <a:cs typeface="Times New Roman" pitchFamily="18" charset="0"/>
            </a:endParaRPr>
          </a:p>
          <a:p>
            <a:pPr algn="just">
              <a:lnSpc>
                <a:spcPct val="170000"/>
              </a:lnSpc>
            </a:pPr>
            <a:endParaRPr lang="en-US" sz="2400" dirty="0">
              <a:latin typeface="Times New Roman" pitchFamily="18" charset="0"/>
              <a:cs typeface="Times New Roman" pitchFamily="18" charset="0"/>
            </a:endParaRPr>
          </a:p>
          <a:p>
            <a:pPr marL="0" indent="0" algn="just">
              <a:lnSpc>
                <a:spcPct val="170000"/>
              </a:lnSpc>
              <a:buNone/>
            </a:pPr>
            <a:endParaRPr lang="en-IN" sz="24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2DD4E219-0C0C-4937-870D-08D46E532289}" type="slidenum">
              <a:rPr lang="en-IN" smtClean="0"/>
              <a:pPr/>
              <a:t>4</a:t>
            </a:fld>
            <a:endParaRPr lang="en-IN"/>
          </a:p>
        </p:txBody>
      </p:sp>
    </p:spTree>
    <p:extLst>
      <p:ext uri="{BB962C8B-B14F-4D97-AF65-F5344CB8AC3E}">
        <p14:creationId xmlns:p14="http://schemas.microsoft.com/office/powerpoint/2010/main" val="37020607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B2C803E-6801-2A9F-7461-D75E4B8910F1}"/>
              </a:ext>
            </a:extLst>
          </p:cNvPr>
          <p:cNvSpPr>
            <a:spLocks noGrp="1"/>
          </p:cNvSpPr>
          <p:nvPr>
            <p:ph idx="1"/>
          </p:nvPr>
        </p:nvSpPr>
        <p:spPr>
          <a:xfrm>
            <a:off x="228600" y="838200"/>
            <a:ext cx="8229600" cy="4525963"/>
          </a:xfrm>
        </p:spPr>
        <p:txBody>
          <a:bodyPr/>
          <a:lstStyle/>
          <a:p>
            <a:pPr algn="just">
              <a:lnSpc>
                <a:spcPct val="150000"/>
              </a:lnSpc>
            </a:pPr>
            <a:r>
              <a:rPr lang="en-US" sz="2400" dirty="0">
                <a:latin typeface="Times New Roman" pitchFamily="18" charset="0"/>
                <a:cs typeface="Times New Roman" pitchFamily="18" charset="0"/>
              </a:rPr>
              <a:t>The research paper titled “Depression Detection Over Fusion of Visual and Vocal Expression Using Artificial Intelligence " has the dataset named “DAIC-WOZ”, “AVEC 2013”, “AVEC 2014” , “SEMAINE”, “D-Vlog” and the models used are CNN and LSTM.  </a:t>
            </a:r>
          </a:p>
          <a:p>
            <a:endParaRPr lang="en-IN" dirty="0"/>
          </a:p>
        </p:txBody>
      </p:sp>
      <p:sp>
        <p:nvSpPr>
          <p:cNvPr id="4" name="Slide Number Placeholder 3">
            <a:extLst>
              <a:ext uri="{FF2B5EF4-FFF2-40B4-BE49-F238E27FC236}">
                <a16:creationId xmlns:a16="http://schemas.microsoft.com/office/drawing/2014/main" id="{FE39ABA7-3649-1B66-3A08-89BC4A5785FF}"/>
              </a:ext>
            </a:extLst>
          </p:cNvPr>
          <p:cNvSpPr>
            <a:spLocks noGrp="1"/>
          </p:cNvSpPr>
          <p:nvPr>
            <p:ph type="sldNum" sz="quarter" idx="12"/>
          </p:nvPr>
        </p:nvSpPr>
        <p:spPr/>
        <p:txBody>
          <a:bodyPr/>
          <a:lstStyle/>
          <a:p>
            <a:fld id="{2DD4E219-0C0C-4937-870D-08D46E532289}" type="slidenum">
              <a:rPr lang="en-IN" smtClean="0"/>
              <a:pPr/>
              <a:t>5</a:t>
            </a:fld>
            <a:endParaRPr lang="en-IN"/>
          </a:p>
        </p:txBody>
      </p:sp>
    </p:spTree>
    <p:extLst>
      <p:ext uri="{BB962C8B-B14F-4D97-AF65-F5344CB8AC3E}">
        <p14:creationId xmlns:p14="http://schemas.microsoft.com/office/powerpoint/2010/main" val="15913155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dirty="0">
                <a:latin typeface="Times New Roman" pitchFamily="18" charset="0"/>
                <a:cs typeface="Times New Roman" pitchFamily="18" charset="0"/>
              </a:rPr>
              <a:t>PROBLEM STATEMENT</a:t>
            </a:r>
          </a:p>
        </p:txBody>
      </p:sp>
      <p:sp>
        <p:nvSpPr>
          <p:cNvPr id="3" name="Content Placeholder 2"/>
          <p:cNvSpPr>
            <a:spLocks noGrp="1"/>
          </p:cNvSpPr>
          <p:nvPr>
            <p:ph idx="1"/>
          </p:nvPr>
        </p:nvSpPr>
        <p:spPr>
          <a:xfrm>
            <a:off x="457200" y="1905000"/>
            <a:ext cx="8229600" cy="4068763"/>
          </a:xfrm>
        </p:spPr>
        <p:txBody>
          <a:bodyPr/>
          <a:lstStyle/>
          <a:p>
            <a:pPr marL="0" indent="0" algn="just">
              <a:lnSpc>
                <a:spcPct val="150000"/>
              </a:lnSpc>
              <a:buNone/>
            </a:pPr>
            <a:r>
              <a:rPr lang="en-US" sz="2400" dirty="0">
                <a:latin typeface="Times New Roman" panose="02020603050405020304" pitchFamily="18" charset="0"/>
                <a:cs typeface="Times New Roman" panose="02020603050405020304" pitchFamily="18" charset="0"/>
              </a:rPr>
              <a:t>Detecting mental health disorders early and accurately is a major challenge due to the complex nature of these conditions and the reliance on subjective methods for diagnosis. This project aims to develop an AI-based system that uses deep learning to analyze multiple types of data, thus providing an objective, scalable, and efficient solution for early detection of mental health disorders.</a:t>
            </a:r>
            <a:endParaRPr lang="en-IN" sz="2400" dirty="0">
              <a:latin typeface="Times New Roman" panose="02020603050405020304" pitchFamily="18" charset="0"/>
              <a:cs typeface="Times New Roman" panose="02020603050405020304" pitchFamily="18" charset="0"/>
            </a:endParaRPr>
          </a:p>
          <a:p>
            <a:pPr marL="0" indent="0" algn="just">
              <a:lnSpc>
                <a:spcPct val="150000"/>
              </a:lnSpc>
              <a:buNone/>
            </a:pPr>
            <a:endParaRPr lang="en-IN" sz="2400" dirty="0"/>
          </a:p>
          <a:p>
            <a:pPr marL="514350" indent="-514350">
              <a:buFont typeface="+mj-lt"/>
              <a:buAutoNum type="arabicPeriod"/>
            </a:pPr>
            <a:endParaRPr lang="en-IN" dirty="0"/>
          </a:p>
          <a:p>
            <a:pPr marL="514350" indent="-514350">
              <a:buFont typeface="+mj-lt"/>
              <a:buAutoNum type="arabicPeriod"/>
            </a:pPr>
            <a:endParaRPr lang="en-IN" dirty="0"/>
          </a:p>
        </p:txBody>
      </p:sp>
      <p:sp>
        <p:nvSpPr>
          <p:cNvPr id="4" name="Slide Number Placeholder 3"/>
          <p:cNvSpPr>
            <a:spLocks noGrp="1"/>
          </p:cNvSpPr>
          <p:nvPr>
            <p:ph type="sldNum" sz="quarter" idx="12"/>
          </p:nvPr>
        </p:nvSpPr>
        <p:spPr/>
        <p:txBody>
          <a:bodyPr/>
          <a:lstStyle/>
          <a:p>
            <a:fld id="{2DD4E219-0C0C-4937-870D-08D46E532289}" type="slidenum">
              <a:rPr lang="en-IN" smtClean="0"/>
              <a:pPr/>
              <a:t>6</a:t>
            </a:fld>
            <a:endParaRPr lang="en-IN"/>
          </a:p>
        </p:txBody>
      </p:sp>
    </p:spTree>
    <p:extLst>
      <p:ext uri="{BB962C8B-B14F-4D97-AF65-F5344CB8AC3E}">
        <p14:creationId xmlns:p14="http://schemas.microsoft.com/office/powerpoint/2010/main" val="23810530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91380"/>
          </a:xfrm>
        </p:spPr>
        <p:txBody>
          <a:bodyPr>
            <a:normAutofit/>
          </a:bodyPr>
          <a:lstStyle/>
          <a:p>
            <a:r>
              <a:rPr lang="en-IN" sz="3200" b="1" dirty="0">
                <a:latin typeface="Times New Roman" pitchFamily="18" charset="0"/>
                <a:cs typeface="Times New Roman" pitchFamily="18" charset="0"/>
              </a:rPr>
              <a:t>OBJECTIVES</a:t>
            </a:r>
          </a:p>
        </p:txBody>
      </p:sp>
      <p:sp>
        <p:nvSpPr>
          <p:cNvPr id="3" name="Content Placeholder 2"/>
          <p:cNvSpPr>
            <a:spLocks noGrp="1"/>
          </p:cNvSpPr>
          <p:nvPr>
            <p:ph idx="1"/>
          </p:nvPr>
        </p:nvSpPr>
        <p:spPr>
          <a:xfrm>
            <a:off x="457200" y="1025472"/>
            <a:ext cx="8229600" cy="5691982"/>
          </a:xfrm>
        </p:spPr>
        <p:txBody>
          <a:bodyPr>
            <a:noAutofit/>
          </a:bodyPr>
          <a:lstStyle/>
          <a:p>
            <a:pPr algn="just">
              <a:lnSpc>
                <a:spcPct val="150000"/>
              </a:lnSpc>
            </a:pPr>
            <a:r>
              <a:rPr lang="en-US" sz="2400" dirty="0">
                <a:latin typeface="Times New Roman" pitchFamily="18" charset="0"/>
                <a:cs typeface="Times New Roman" pitchFamily="18" charset="0"/>
              </a:rPr>
              <a:t>To develop a dual-sense AI model that can process both verbal and non-verbal data to detect early signs of mental health disorders.</a:t>
            </a:r>
          </a:p>
          <a:p>
            <a:pPr algn="just">
              <a:lnSpc>
                <a:spcPct val="150000"/>
              </a:lnSpc>
            </a:pPr>
            <a:r>
              <a:rPr lang="en-US" sz="2400" dirty="0">
                <a:latin typeface="Times New Roman" pitchFamily="18" charset="0"/>
                <a:cs typeface="Times New Roman" pitchFamily="18" charset="0"/>
              </a:rPr>
              <a:t>To utilize deep learning algorithms to analyze multiple data sources such as  facial expressions and speech to text for detecting mental health conditions.</a:t>
            </a:r>
          </a:p>
          <a:p>
            <a:pPr algn="just">
              <a:lnSpc>
                <a:spcPct val="150000"/>
              </a:lnSpc>
            </a:pPr>
            <a:r>
              <a:rPr lang="en-US" sz="2400" dirty="0">
                <a:latin typeface="Times New Roman" pitchFamily="18" charset="0"/>
                <a:cs typeface="Times New Roman" pitchFamily="18" charset="0"/>
              </a:rPr>
              <a:t>To develop an accurate, reliable, and scalable AI system that can be used by mental health professionals to assist in early diagnosis.</a:t>
            </a:r>
          </a:p>
        </p:txBody>
      </p:sp>
      <p:sp>
        <p:nvSpPr>
          <p:cNvPr id="4" name="Slide Number Placeholder 3"/>
          <p:cNvSpPr>
            <a:spLocks noGrp="1"/>
          </p:cNvSpPr>
          <p:nvPr>
            <p:ph type="sldNum" sz="quarter" idx="12"/>
          </p:nvPr>
        </p:nvSpPr>
        <p:spPr/>
        <p:txBody>
          <a:bodyPr/>
          <a:lstStyle/>
          <a:p>
            <a:fld id="{2DD4E219-0C0C-4937-870D-08D46E532289}" type="slidenum">
              <a:rPr lang="en-IN" smtClean="0"/>
              <a:pPr/>
              <a:t>7</a:t>
            </a:fld>
            <a:endParaRPr lang="en-IN"/>
          </a:p>
        </p:txBody>
      </p:sp>
    </p:spTree>
    <p:extLst>
      <p:ext uri="{BB962C8B-B14F-4D97-AF65-F5344CB8AC3E}">
        <p14:creationId xmlns:p14="http://schemas.microsoft.com/office/powerpoint/2010/main" val="32817458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9F8CCA25-28EF-568C-0A5C-25F1E99CBB02}"/>
              </a:ext>
            </a:extLst>
          </p:cNvPr>
          <p:cNvSpPr txBox="1"/>
          <p:nvPr/>
        </p:nvSpPr>
        <p:spPr>
          <a:xfrm>
            <a:off x="2924709" y="6313918"/>
            <a:ext cx="3347663" cy="498663"/>
          </a:xfrm>
          <a:prstGeom prst="rect">
            <a:avLst/>
          </a:prstGeom>
          <a:noFill/>
        </p:spPr>
        <p:txBody>
          <a:bodyPr wrap="square">
            <a:spAutoFit/>
          </a:bodyPr>
          <a:lstStyle/>
          <a:p>
            <a:pPr>
              <a:lnSpc>
                <a:spcPct val="150000"/>
              </a:lnSpc>
            </a:pPr>
            <a:r>
              <a:rPr lang="en-US" sz="1800" dirty="0">
                <a:latin typeface="Times New Roman" pitchFamily="18" charset="0"/>
                <a:cs typeface="Times New Roman" pitchFamily="18" charset="0"/>
              </a:rPr>
              <a:t>                  </a:t>
            </a:r>
            <a:r>
              <a:rPr lang="en-US" sz="2000" b="1" dirty="0">
                <a:latin typeface="Times New Roman" pitchFamily="18" charset="0"/>
                <a:cs typeface="Times New Roman" pitchFamily="18" charset="0"/>
              </a:rPr>
              <a:t>Flowchart</a:t>
            </a:r>
          </a:p>
        </p:txBody>
      </p:sp>
      <p:sp>
        <p:nvSpPr>
          <p:cNvPr id="2" name="Rectangle 1">
            <a:extLst>
              <a:ext uri="{FF2B5EF4-FFF2-40B4-BE49-F238E27FC236}">
                <a16:creationId xmlns:a16="http://schemas.microsoft.com/office/drawing/2014/main" id="{E90CF5D6-1381-46A2-5B20-4647820A3288}"/>
              </a:ext>
            </a:extLst>
          </p:cNvPr>
          <p:cNvSpPr/>
          <p:nvPr/>
        </p:nvSpPr>
        <p:spPr>
          <a:xfrm>
            <a:off x="660114" y="1299365"/>
            <a:ext cx="2438400" cy="624452"/>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Facial expression dataset</a:t>
            </a:r>
            <a:endParaRPr lang="en-IN" dirty="0">
              <a:ln w="0"/>
              <a:solidFill>
                <a:schemeClr val="tx1"/>
              </a:solidFill>
              <a:effectLst>
                <a:outerShdw blurRad="38100" dist="19050" dir="2700000" algn="tl" rotWithShape="0">
                  <a:schemeClr val="dk1">
                    <a:alpha val="40000"/>
                  </a:schemeClr>
                </a:outerShdw>
              </a:effectLst>
            </a:endParaRPr>
          </a:p>
        </p:txBody>
      </p:sp>
      <p:sp>
        <p:nvSpPr>
          <p:cNvPr id="3" name="Rectangle 2">
            <a:extLst>
              <a:ext uri="{FF2B5EF4-FFF2-40B4-BE49-F238E27FC236}">
                <a16:creationId xmlns:a16="http://schemas.microsoft.com/office/drawing/2014/main" id="{BC543DE0-DA17-98DE-EF5E-1F9B0DA6B8A4}"/>
              </a:ext>
            </a:extLst>
          </p:cNvPr>
          <p:cNvSpPr/>
          <p:nvPr/>
        </p:nvSpPr>
        <p:spPr>
          <a:xfrm>
            <a:off x="622014" y="3232471"/>
            <a:ext cx="2514600" cy="432438"/>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Feature extraction</a:t>
            </a:r>
            <a:endParaRPr lang="en-IN" dirty="0">
              <a:ln w="0"/>
              <a:solidFill>
                <a:schemeClr val="tx1"/>
              </a:solidFill>
              <a:effectLst>
                <a:outerShdw blurRad="38100" dist="19050" dir="2700000" algn="tl" rotWithShape="0">
                  <a:schemeClr val="dk1">
                    <a:alpha val="40000"/>
                  </a:schemeClr>
                </a:outerShdw>
              </a:effectLst>
            </a:endParaRPr>
          </a:p>
        </p:txBody>
      </p:sp>
      <p:sp>
        <p:nvSpPr>
          <p:cNvPr id="5" name="Rectangle 4">
            <a:extLst>
              <a:ext uri="{FF2B5EF4-FFF2-40B4-BE49-F238E27FC236}">
                <a16:creationId xmlns:a16="http://schemas.microsoft.com/office/drawing/2014/main" id="{59F7DF61-ABB4-F018-C3ED-4843AB28FE29}"/>
              </a:ext>
            </a:extLst>
          </p:cNvPr>
          <p:cNvSpPr/>
          <p:nvPr/>
        </p:nvSpPr>
        <p:spPr>
          <a:xfrm>
            <a:off x="685800" y="4061910"/>
            <a:ext cx="2514600" cy="498663"/>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Model training</a:t>
            </a:r>
            <a:endParaRPr lang="en-IN" dirty="0">
              <a:ln w="0"/>
              <a:solidFill>
                <a:schemeClr val="tx1"/>
              </a:solidFill>
              <a:effectLst>
                <a:outerShdw blurRad="38100" dist="19050" dir="2700000" algn="tl" rotWithShape="0">
                  <a:schemeClr val="dk1">
                    <a:alpha val="40000"/>
                  </a:schemeClr>
                </a:outerShdw>
              </a:effectLst>
            </a:endParaRPr>
          </a:p>
        </p:txBody>
      </p:sp>
      <p:sp>
        <p:nvSpPr>
          <p:cNvPr id="7" name="Rectangle 6">
            <a:extLst>
              <a:ext uri="{FF2B5EF4-FFF2-40B4-BE49-F238E27FC236}">
                <a16:creationId xmlns:a16="http://schemas.microsoft.com/office/drawing/2014/main" id="{65DF1E86-7DE5-CB13-CD47-C745C8C7E751}"/>
              </a:ext>
            </a:extLst>
          </p:cNvPr>
          <p:cNvSpPr/>
          <p:nvPr/>
        </p:nvSpPr>
        <p:spPr>
          <a:xfrm>
            <a:off x="660114" y="5075779"/>
            <a:ext cx="2514600" cy="493294"/>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Model output</a:t>
            </a:r>
            <a:endParaRPr lang="en-IN" dirty="0">
              <a:ln w="0"/>
              <a:solidFill>
                <a:schemeClr val="tx1"/>
              </a:solidFill>
              <a:effectLst>
                <a:outerShdw blurRad="38100" dist="19050" dir="2700000" algn="tl" rotWithShape="0">
                  <a:schemeClr val="dk1">
                    <a:alpha val="40000"/>
                  </a:schemeClr>
                </a:outerShdw>
              </a:effectLst>
            </a:endParaRPr>
          </a:p>
        </p:txBody>
      </p:sp>
      <p:sp>
        <p:nvSpPr>
          <p:cNvPr id="9" name="Rectangle 8">
            <a:extLst>
              <a:ext uri="{FF2B5EF4-FFF2-40B4-BE49-F238E27FC236}">
                <a16:creationId xmlns:a16="http://schemas.microsoft.com/office/drawing/2014/main" id="{9DC664ED-A035-1F33-3612-D6702D810635}"/>
              </a:ext>
            </a:extLst>
          </p:cNvPr>
          <p:cNvSpPr/>
          <p:nvPr/>
        </p:nvSpPr>
        <p:spPr>
          <a:xfrm>
            <a:off x="5907640" y="1377740"/>
            <a:ext cx="2438400" cy="455999"/>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Speech to text dataset</a:t>
            </a:r>
            <a:endParaRPr lang="en-IN" dirty="0">
              <a:ln w="0"/>
              <a:solidFill>
                <a:schemeClr val="tx1"/>
              </a:solidFill>
              <a:effectLst>
                <a:outerShdw blurRad="38100" dist="19050" dir="2700000" algn="tl" rotWithShape="0">
                  <a:schemeClr val="dk1">
                    <a:alpha val="40000"/>
                  </a:schemeClr>
                </a:outerShdw>
              </a:effectLst>
            </a:endParaRPr>
          </a:p>
        </p:txBody>
      </p:sp>
      <p:sp>
        <p:nvSpPr>
          <p:cNvPr id="10" name="Rectangle 9">
            <a:extLst>
              <a:ext uri="{FF2B5EF4-FFF2-40B4-BE49-F238E27FC236}">
                <a16:creationId xmlns:a16="http://schemas.microsoft.com/office/drawing/2014/main" id="{7C81DF87-B9BD-E5DC-1F53-20D903D76BD1}"/>
              </a:ext>
            </a:extLst>
          </p:cNvPr>
          <p:cNvSpPr/>
          <p:nvPr/>
        </p:nvSpPr>
        <p:spPr>
          <a:xfrm>
            <a:off x="5869540" y="2319711"/>
            <a:ext cx="2514600" cy="522002"/>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text reading</a:t>
            </a:r>
            <a:endParaRPr lang="en-IN" dirty="0">
              <a:ln w="0"/>
              <a:solidFill>
                <a:schemeClr val="tx1"/>
              </a:solidFill>
              <a:effectLst>
                <a:outerShdw blurRad="38100" dist="19050" dir="2700000" algn="tl" rotWithShape="0">
                  <a:schemeClr val="dk1">
                    <a:alpha val="40000"/>
                  </a:schemeClr>
                </a:outerShdw>
              </a:effectLst>
            </a:endParaRPr>
          </a:p>
        </p:txBody>
      </p:sp>
      <p:sp>
        <p:nvSpPr>
          <p:cNvPr id="11" name="Rectangle 10">
            <a:extLst>
              <a:ext uri="{FF2B5EF4-FFF2-40B4-BE49-F238E27FC236}">
                <a16:creationId xmlns:a16="http://schemas.microsoft.com/office/drawing/2014/main" id="{C723F3F0-DAF8-C840-E3F5-404CB33FB8DB}"/>
              </a:ext>
            </a:extLst>
          </p:cNvPr>
          <p:cNvSpPr/>
          <p:nvPr/>
        </p:nvSpPr>
        <p:spPr>
          <a:xfrm>
            <a:off x="5831440" y="3345932"/>
            <a:ext cx="2514600" cy="529893"/>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Speech recognition</a:t>
            </a:r>
            <a:endParaRPr lang="en-IN" dirty="0">
              <a:ln w="0"/>
              <a:solidFill>
                <a:schemeClr val="tx1"/>
              </a:solidFill>
              <a:effectLst>
                <a:outerShdw blurRad="38100" dist="19050" dir="2700000" algn="tl" rotWithShape="0">
                  <a:schemeClr val="dk1">
                    <a:alpha val="40000"/>
                  </a:schemeClr>
                </a:outerShdw>
              </a:effectLst>
            </a:endParaRPr>
          </a:p>
        </p:txBody>
      </p:sp>
      <p:sp>
        <p:nvSpPr>
          <p:cNvPr id="12" name="Rectangle 11">
            <a:extLst>
              <a:ext uri="{FF2B5EF4-FFF2-40B4-BE49-F238E27FC236}">
                <a16:creationId xmlns:a16="http://schemas.microsoft.com/office/drawing/2014/main" id="{F63D38CA-864D-CD61-44DE-2D7032AF881C}"/>
              </a:ext>
            </a:extLst>
          </p:cNvPr>
          <p:cNvSpPr/>
          <p:nvPr/>
        </p:nvSpPr>
        <p:spPr>
          <a:xfrm>
            <a:off x="5919627" y="4386621"/>
            <a:ext cx="2514600" cy="628795"/>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Display output</a:t>
            </a:r>
            <a:endParaRPr lang="en-IN" dirty="0">
              <a:ln w="0"/>
              <a:solidFill>
                <a:schemeClr val="tx1"/>
              </a:solidFill>
              <a:effectLst>
                <a:outerShdw blurRad="38100" dist="19050" dir="2700000" algn="tl" rotWithShape="0">
                  <a:schemeClr val="dk1">
                    <a:alpha val="40000"/>
                  </a:schemeClr>
                </a:outerShdw>
              </a:effectLst>
            </a:endParaRPr>
          </a:p>
        </p:txBody>
      </p:sp>
      <p:sp>
        <p:nvSpPr>
          <p:cNvPr id="14" name="Rectangle 13">
            <a:extLst>
              <a:ext uri="{FF2B5EF4-FFF2-40B4-BE49-F238E27FC236}">
                <a16:creationId xmlns:a16="http://schemas.microsoft.com/office/drawing/2014/main" id="{BD96E940-7D60-B904-18D8-DE7A49F673EA}"/>
              </a:ext>
            </a:extLst>
          </p:cNvPr>
          <p:cNvSpPr/>
          <p:nvPr/>
        </p:nvSpPr>
        <p:spPr>
          <a:xfrm>
            <a:off x="622014" y="2298160"/>
            <a:ext cx="2514600" cy="522002"/>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Image preprocessing</a:t>
            </a:r>
            <a:endParaRPr lang="en-IN" dirty="0">
              <a:ln w="0"/>
              <a:solidFill>
                <a:schemeClr val="tx1"/>
              </a:solidFill>
              <a:effectLst>
                <a:outerShdw blurRad="38100" dist="19050" dir="2700000" algn="tl" rotWithShape="0">
                  <a:schemeClr val="dk1">
                    <a:alpha val="40000"/>
                  </a:schemeClr>
                </a:outerShdw>
              </a:effectLst>
            </a:endParaRPr>
          </a:p>
        </p:txBody>
      </p:sp>
      <p:sp>
        <p:nvSpPr>
          <p:cNvPr id="15" name="Rectangle 14">
            <a:extLst>
              <a:ext uri="{FF2B5EF4-FFF2-40B4-BE49-F238E27FC236}">
                <a16:creationId xmlns:a16="http://schemas.microsoft.com/office/drawing/2014/main" id="{68C90A11-32F9-868A-D63B-46AF64198063}"/>
              </a:ext>
            </a:extLst>
          </p:cNvPr>
          <p:cNvSpPr/>
          <p:nvPr/>
        </p:nvSpPr>
        <p:spPr>
          <a:xfrm>
            <a:off x="3200400" y="251462"/>
            <a:ext cx="2438400" cy="927510"/>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Input Data</a:t>
            </a:r>
            <a:endParaRPr lang="en-IN" dirty="0">
              <a:ln w="0"/>
              <a:solidFill>
                <a:schemeClr val="tx1"/>
              </a:solidFill>
              <a:effectLst>
                <a:outerShdw blurRad="38100" dist="19050" dir="2700000" algn="tl" rotWithShape="0">
                  <a:schemeClr val="dk1">
                    <a:alpha val="40000"/>
                  </a:schemeClr>
                </a:outerShdw>
              </a:effectLst>
            </a:endParaRPr>
          </a:p>
        </p:txBody>
      </p:sp>
      <p:sp>
        <p:nvSpPr>
          <p:cNvPr id="17" name="Arrow: Bent-Up 16">
            <a:extLst>
              <a:ext uri="{FF2B5EF4-FFF2-40B4-BE49-F238E27FC236}">
                <a16:creationId xmlns:a16="http://schemas.microsoft.com/office/drawing/2014/main" id="{3AE9F2ED-F0C2-A7DE-CBA4-FA550E67B97C}"/>
              </a:ext>
            </a:extLst>
          </p:cNvPr>
          <p:cNvSpPr/>
          <p:nvPr/>
        </p:nvSpPr>
        <p:spPr>
          <a:xfrm rot="10800000">
            <a:off x="1927689" y="457432"/>
            <a:ext cx="1096766" cy="721540"/>
          </a:xfrm>
          <a:prstGeom prst="bentUpArrow">
            <a:avLst>
              <a:gd name="adj1" fmla="val 15032"/>
              <a:gd name="adj2" fmla="val 15744"/>
              <a:gd name="adj3" fmla="val 25000"/>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Arrow: Bent 19">
            <a:extLst>
              <a:ext uri="{FF2B5EF4-FFF2-40B4-BE49-F238E27FC236}">
                <a16:creationId xmlns:a16="http://schemas.microsoft.com/office/drawing/2014/main" id="{48394D99-5ABA-6ED1-804A-087337F2FCC0}"/>
              </a:ext>
            </a:extLst>
          </p:cNvPr>
          <p:cNvSpPr/>
          <p:nvPr/>
        </p:nvSpPr>
        <p:spPr>
          <a:xfrm>
            <a:off x="7010400" y="1722052"/>
            <a:ext cx="45719" cy="45719"/>
          </a:xfrm>
          <a:prstGeom prst="ben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21" name="Arrow: Bent-Up 20">
            <a:extLst>
              <a:ext uri="{FF2B5EF4-FFF2-40B4-BE49-F238E27FC236}">
                <a16:creationId xmlns:a16="http://schemas.microsoft.com/office/drawing/2014/main" id="{4E31B921-1F1C-EDA8-8464-952D8628A9BC}"/>
              </a:ext>
            </a:extLst>
          </p:cNvPr>
          <p:cNvSpPr/>
          <p:nvPr/>
        </p:nvSpPr>
        <p:spPr>
          <a:xfrm rot="10800000" flipH="1">
            <a:off x="5823821" y="509586"/>
            <a:ext cx="1264919" cy="655453"/>
          </a:xfrm>
          <a:prstGeom prst="bentUpArrow">
            <a:avLst>
              <a:gd name="adj1" fmla="val 17162"/>
              <a:gd name="adj2" fmla="val 17946"/>
              <a:gd name="adj3" fmla="val 34405"/>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Arrow: Down 21">
            <a:extLst>
              <a:ext uri="{FF2B5EF4-FFF2-40B4-BE49-F238E27FC236}">
                <a16:creationId xmlns:a16="http://schemas.microsoft.com/office/drawing/2014/main" id="{333B68B0-C679-59B4-7B1C-7EA061473F6B}"/>
              </a:ext>
            </a:extLst>
          </p:cNvPr>
          <p:cNvSpPr/>
          <p:nvPr/>
        </p:nvSpPr>
        <p:spPr>
          <a:xfrm>
            <a:off x="1833938" y="2003670"/>
            <a:ext cx="205056" cy="224149"/>
          </a:xfrm>
          <a:prstGeom prst="down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Arrow: Down 22">
            <a:extLst>
              <a:ext uri="{FF2B5EF4-FFF2-40B4-BE49-F238E27FC236}">
                <a16:creationId xmlns:a16="http://schemas.microsoft.com/office/drawing/2014/main" id="{A7D81BAB-166C-3B4C-983E-DE418EEA29EF}"/>
              </a:ext>
            </a:extLst>
          </p:cNvPr>
          <p:cNvSpPr/>
          <p:nvPr/>
        </p:nvSpPr>
        <p:spPr>
          <a:xfrm>
            <a:off x="1827944" y="2905671"/>
            <a:ext cx="211049" cy="256459"/>
          </a:xfrm>
          <a:prstGeom prst="down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Arrow: Down 23">
            <a:extLst>
              <a:ext uri="{FF2B5EF4-FFF2-40B4-BE49-F238E27FC236}">
                <a16:creationId xmlns:a16="http://schemas.microsoft.com/office/drawing/2014/main" id="{AE905A60-38D9-A15C-F476-7E172F160E0F}"/>
              </a:ext>
            </a:extLst>
          </p:cNvPr>
          <p:cNvSpPr/>
          <p:nvPr/>
        </p:nvSpPr>
        <p:spPr>
          <a:xfrm>
            <a:off x="1805256" y="3730185"/>
            <a:ext cx="233737" cy="261384"/>
          </a:xfrm>
          <a:prstGeom prst="down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Arrow: Down 24">
            <a:extLst>
              <a:ext uri="{FF2B5EF4-FFF2-40B4-BE49-F238E27FC236}">
                <a16:creationId xmlns:a16="http://schemas.microsoft.com/office/drawing/2014/main" id="{D3347FA6-EBD4-0C4E-081A-EF03252AAA98}"/>
              </a:ext>
            </a:extLst>
          </p:cNvPr>
          <p:cNvSpPr/>
          <p:nvPr/>
        </p:nvSpPr>
        <p:spPr>
          <a:xfrm>
            <a:off x="1831368" y="4691125"/>
            <a:ext cx="207625" cy="266449"/>
          </a:xfrm>
          <a:prstGeom prst="down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Arrow: Down 25">
            <a:extLst>
              <a:ext uri="{FF2B5EF4-FFF2-40B4-BE49-F238E27FC236}">
                <a16:creationId xmlns:a16="http://schemas.microsoft.com/office/drawing/2014/main" id="{1DA9CDDE-B0FD-F632-ED6D-D058F0FBEDBD}"/>
              </a:ext>
            </a:extLst>
          </p:cNvPr>
          <p:cNvSpPr/>
          <p:nvPr/>
        </p:nvSpPr>
        <p:spPr>
          <a:xfrm>
            <a:off x="6855003" y="1968620"/>
            <a:ext cx="233737" cy="285123"/>
          </a:xfrm>
          <a:prstGeom prst="down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Arrow: Down 26">
            <a:extLst>
              <a:ext uri="{FF2B5EF4-FFF2-40B4-BE49-F238E27FC236}">
                <a16:creationId xmlns:a16="http://schemas.microsoft.com/office/drawing/2014/main" id="{D986AF6D-EF96-80B2-D397-AC6F946DAC18}"/>
              </a:ext>
            </a:extLst>
          </p:cNvPr>
          <p:cNvSpPr/>
          <p:nvPr/>
        </p:nvSpPr>
        <p:spPr>
          <a:xfrm>
            <a:off x="6858000" y="2945199"/>
            <a:ext cx="198119" cy="311027"/>
          </a:xfrm>
          <a:prstGeom prst="down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 name="Arrow: Down 27">
            <a:extLst>
              <a:ext uri="{FF2B5EF4-FFF2-40B4-BE49-F238E27FC236}">
                <a16:creationId xmlns:a16="http://schemas.microsoft.com/office/drawing/2014/main" id="{6C905613-BF7F-1A4E-F95F-508B998ACDC0}"/>
              </a:ext>
            </a:extLst>
          </p:cNvPr>
          <p:cNvSpPr/>
          <p:nvPr/>
        </p:nvSpPr>
        <p:spPr>
          <a:xfrm>
            <a:off x="6871313" y="3965530"/>
            <a:ext cx="184806" cy="301669"/>
          </a:xfrm>
          <a:prstGeom prst="down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 name="Rectangle 5">
            <a:extLst>
              <a:ext uri="{FF2B5EF4-FFF2-40B4-BE49-F238E27FC236}">
                <a16:creationId xmlns:a16="http://schemas.microsoft.com/office/drawing/2014/main" id="{13B4E29B-5CAF-5EB6-91F3-B2421E2DC011}"/>
              </a:ext>
            </a:extLst>
          </p:cNvPr>
          <p:cNvSpPr/>
          <p:nvPr/>
        </p:nvSpPr>
        <p:spPr>
          <a:xfrm>
            <a:off x="3581400" y="5645448"/>
            <a:ext cx="2209800" cy="655451"/>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a:latin typeface="Times New Roman" panose="02020603050405020304" pitchFamily="18" charset="0"/>
                <a:cs typeface="Times New Roman" panose="02020603050405020304" pitchFamily="18" charset="0"/>
              </a:rPr>
              <a:t>Combined result</a:t>
            </a:r>
            <a:endParaRPr lang="en-IN" b="1" dirty="0">
              <a:latin typeface="Times New Roman" panose="02020603050405020304" pitchFamily="18" charset="0"/>
              <a:cs typeface="Times New Roman" panose="02020603050405020304" pitchFamily="18" charset="0"/>
            </a:endParaRPr>
          </a:p>
        </p:txBody>
      </p:sp>
      <p:sp>
        <p:nvSpPr>
          <p:cNvPr id="18" name="Arrow: Bent-Up 17">
            <a:extLst>
              <a:ext uri="{FF2B5EF4-FFF2-40B4-BE49-F238E27FC236}">
                <a16:creationId xmlns:a16="http://schemas.microsoft.com/office/drawing/2014/main" id="{B789B1C1-B471-043E-0065-97729C759F60}"/>
              </a:ext>
            </a:extLst>
          </p:cNvPr>
          <p:cNvSpPr/>
          <p:nvPr/>
        </p:nvSpPr>
        <p:spPr>
          <a:xfrm rot="5400000">
            <a:off x="2452609" y="5031691"/>
            <a:ext cx="427926" cy="1677256"/>
          </a:xfrm>
          <a:prstGeom prst="bentUpArrow">
            <a:avLst>
              <a:gd name="adj1" fmla="val 25000"/>
              <a:gd name="adj2" fmla="val 24216"/>
              <a:gd name="adj3" fmla="val 50000"/>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2" name="Arrow: Bent-Up 31">
            <a:extLst>
              <a:ext uri="{FF2B5EF4-FFF2-40B4-BE49-F238E27FC236}">
                <a16:creationId xmlns:a16="http://schemas.microsoft.com/office/drawing/2014/main" id="{E4D7367B-6327-A678-9334-DF1D792BB43E}"/>
              </a:ext>
            </a:extLst>
          </p:cNvPr>
          <p:cNvSpPr/>
          <p:nvPr/>
        </p:nvSpPr>
        <p:spPr>
          <a:xfrm rot="16200000" flipH="1">
            <a:off x="6033063" y="5060893"/>
            <a:ext cx="942241" cy="1169115"/>
          </a:xfrm>
          <a:prstGeom prst="bentUpArrow">
            <a:avLst>
              <a:gd name="adj1" fmla="val 10362"/>
              <a:gd name="adj2" fmla="val 11856"/>
              <a:gd name="adj3" fmla="val 23313"/>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9300903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dirty="0">
                <a:latin typeface="Times New Roman" pitchFamily="18" charset="0"/>
                <a:cs typeface="Times New Roman" pitchFamily="18" charset="0"/>
              </a:rPr>
              <a:t>METHODOLOGY</a:t>
            </a:r>
          </a:p>
        </p:txBody>
      </p:sp>
      <p:sp>
        <p:nvSpPr>
          <p:cNvPr id="3" name="Content Placeholder 2"/>
          <p:cNvSpPr>
            <a:spLocks noGrp="1"/>
          </p:cNvSpPr>
          <p:nvPr>
            <p:ph idx="1"/>
          </p:nvPr>
        </p:nvSpPr>
        <p:spPr>
          <a:xfrm>
            <a:off x="457200" y="1219200"/>
            <a:ext cx="8229600" cy="5257800"/>
          </a:xfrm>
        </p:spPr>
        <p:txBody>
          <a:bodyPr>
            <a:noAutofit/>
          </a:bodyPr>
          <a:lstStyle/>
          <a:p>
            <a:pPr algn="just">
              <a:lnSpc>
                <a:spcPct val="150000"/>
              </a:lnSpc>
            </a:pPr>
            <a:r>
              <a:rPr lang="en-US" sz="2400" b="1" dirty="0">
                <a:latin typeface="Times New Roman" panose="02020603050405020304" pitchFamily="18" charset="0"/>
                <a:cs typeface="Times New Roman" panose="02020603050405020304" pitchFamily="18" charset="0"/>
              </a:rPr>
              <a:t>Input Data: </a:t>
            </a:r>
            <a:r>
              <a:rPr lang="en-US" sz="2400" dirty="0">
                <a:latin typeface="Times New Roman" panose="02020603050405020304" pitchFamily="18" charset="0"/>
                <a:cs typeface="Times New Roman" panose="02020603050405020304" pitchFamily="18" charset="0"/>
              </a:rPr>
              <a:t>Collect multi-modal data which includes  speech to text input and facial expressions.</a:t>
            </a:r>
          </a:p>
          <a:p>
            <a:pPr algn="just">
              <a:lnSpc>
                <a:spcPct val="150000"/>
              </a:lnSpc>
            </a:pPr>
            <a:r>
              <a:rPr lang="en-US" sz="2400" b="1" dirty="0">
                <a:latin typeface="Times New Roman" panose="02020603050405020304" pitchFamily="18" charset="0"/>
                <a:cs typeface="Times New Roman" panose="02020603050405020304" pitchFamily="18" charset="0"/>
              </a:rPr>
              <a:t>Image Preprocessing:</a:t>
            </a:r>
            <a:r>
              <a:rPr lang="en-US" sz="2400" dirty="0">
                <a:latin typeface="Times New Roman" panose="02020603050405020304" pitchFamily="18" charset="0"/>
                <a:cs typeface="Times New Roman" panose="02020603050405020304" pitchFamily="18" charset="0"/>
              </a:rPr>
              <a:t> Preprocess the collected data, converting it into formats suitable for deep learning models (e.g., facial data and speech to text data).</a:t>
            </a:r>
          </a:p>
          <a:p>
            <a:pPr algn="just">
              <a:lnSpc>
                <a:spcPct val="150000"/>
              </a:lnSpc>
            </a:pPr>
            <a:r>
              <a:rPr lang="en-US" sz="2400" b="1" dirty="0">
                <a:latin typeface="Times New Roman" panose="02020603050405020304" pitchFamily="18" charset="0"/>
                <a:cs typeface="Times New Roman" panose="02020603050405020304" pitchFamily="18" charset="0"/>
              </a:rPr>
              <a:t>Feature selection and extraction: </a:t>
            </a:r>
            <a:r>
              <a:rPr lang="en-US" sz="2400" dirty="0">
                <a:latin typeface="Times New Roman" panose="02020603050405020304" pitchFamily="18" charset="0"/>
                <a:cs typeface="Times New Roman" panose="02020603050405020304" pitchFamily="18" charset="0"/>
              </a:rPr>
              <a:t>This is the process of locating and selecting the face in an image using </a:t>
            </a:r>
            <a:r>
              <a:rPr lang="en-US" sz="2400" dirty="0" err="1">
                <a:latin typeface="Times New Roman" panose="02020603050405020304" pitchFamily="18" charset="0"/>
                <a:cs typeface="Times New Roman" panose="02020603050405020304" pitchFamily="18" charset="0"/>
              </a:rPr>
              <a:t>Haarcascades</a:t>
            </a:r>
            <a:r>
              <a:rPr lang="en-US" sz="2400" dirty="0">
                <a:latin typeface="Times New Roman" panose="02020603050405020304" pitchFamily="18" charset="0"/>
                <a:cs typeface="Times New Roman" panose="02020603050405020304" pitchFamily="18" charset="0"/>
              </a:rPr>
              <a:t>, focus on extracting text from voice. Use NLP for  final processing. </a:t>
            </a:r>
          </a:p>
          <a:p>
            <a:pPr>
              <a:lnSpc>
                <a:spcPct val="150000"/>
              </a:lnSpc>
            </a:pPr>
            <a:endParaRPr lang="en-US" sz="24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2DD4E219-0C0C-4937-870D-08D46E532289}" type="slidenum">
              <a:rPr lang="en-IN" smtClean="0"/>
              <a:pPr/>
              <a:t>9</a:t>
            </a:fld>
            <a:endParaRPr lang="en-IN"/>
          </a:p>
        </p:txBody>
      </p:sp>
    </p:spTree>
    <p:extLst>
      <p:ext uri="{BB962C8B-B14F-4D97-AF65-F5344CB8AC3E}">
        <p14:creationId xmlns:p14="http://schemas.microsoft.com/office/powerpoint/2010/main" val="32817458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925538A-6CDA-681A-98F5-6A3FBB033186}"/>
              </a:ext>
            </a:extLst>
          </p:cNvPr>
          <p:cNvSpPr>
            <a:spLocks noGrp="1"/>
          </p:cNvSpPr>
          <p:nvPr>
            <p:ph type="sldNum" sz="quarter" idx="12"/>
          </p:nvPr>
        </p:nvSpPr>
        <p:spPr/>
        <p:txBody>
          <a:bodyPr/>
          <a:lstStyle/>
          <a:p>
            <a:fld id="{2DD4E219-0C0C-4937-870D-08D46E532289}" type="slidenum">
              <a:rPr lang="en-IN" smtClean="0"/>
              <a:pPr/>
              <a:t>10</a:t>
            </a:fld>
            <a:endParaRPr lang="en-IN"/>
          </a:p>
        </p:txBody>
      </p:sp>
      <p:sp>
        <p:nvSpPr>
          <p:cNvPr id="5" name="Title 1">
            <a:extLst>
              <a:ext uri="{FF2B5EF4-FFF2-40B4-BE49-F238E27FC236}">
                <a16:creationId xmlns:a16="http://schemas.microsoft.com/office/drawing/2014/main" id="{280FE267-6BB0-F4E8-7076-1EC364D2E606}"/>
              </a:ext>
            </a:extLst>
          </p:cNvPr>
          <p:cNvSpPr>
            <a:spLocks noGrp="1"/>
          </p:cNvSpPr>
          <p:nvPr>
            <p:ph idx="1"/>
          </p:nvPr>
        </p:nvSpPr>
        <p:spPr>
          <a:xfrm>
            <a:off x="420688" y="136525"/>
            <a:ext cx="8229600" cy="6492875"/>
          </a:xfrm>
        </p:spPr>
        <p:txBody>
          <a:bodyPr>
            <a:normAutofit/>
          </a:bodyPr>
          <a:lstStyle/>
          <a:p>
            <a:pPr algn="just">
              <a:lnSpc>
                <a:spcPct val="150000"/>
              </a:lnSpc>
            </a:pPr>
            <a:r>
              <a:rPr lang="en-US" sz="2400" b="1" dirty="0">
                <a:latin typeface="Times New Roman" panose="02020603050405020304" pitchFamily="18" charset="0"/>
                <a:cs typeface="Times New Roman" panose="02020603050405020304" pitchFamily="18" charset="0"/>
              </a:rPr>
              <a:t>Model Training: </a:t>
            </a:r>
            <a:r>
              <a:rPr lang="en-US" sz="2400" dirty="0">
                <a:latin typeface="Times New Roman" panose="02020603050405020304" pitchFamily="18" charset="0"/>
                <a:cs typeface="Times New Roman" panose="02020603050405020304" pitchFamily="18" charset="0"/>
              </a:rPr>
              <a:t>Train the model using labeled data, where mental health conditions are annotated, ensuring a balanced and diverse dataset.</a:t>
            </a:r>
          </a:p>
          <a:p>
            <a:pPr algn="just">
              <a:lnSpc>
                <a:spcPct val="150000"/>
              </a:lnSpc>
            </a:pPr>
            <a:r>
              <a:rPr lang="en-US" sz="2400" dirty="0">
                <a:latin typeface="Times New Roman" panose="02020603050405020304" pitchFamily="18" charset="0"/>
                <a:cs typeface="Times New Roman" panose="02020603050405020304" pitchFamily="18" charset="0"/>
              </a:rPr>
              <a:t>Example : stress, </a:t>
            </a:r>
            <a:r>
              <a:rPr lang="en-US" sz="2400" dirty="0" err="1">
                <a:latin typeface="Times New Roman" panose="02020603050405020304" pitchFamily="18" charset="0"/>
                <a:cs typeface="Times New Roman" panose="02020603050405020304" pitchFamily="18" charset="0"/>
              </a:rPr>
              <a:t>nostress,depressed,notdepressed</a:t>
            </a:r>
            <a:r>
              <a:rPr lang="en-US" sz="2400" dirty="0">
                <a:latin typeface="Times New Roman" panose="02020603050405020304" pitchFamily="18" charset="0"/>
                <a:cs typeface="Times New Roman" panose="02020603050405020304" pitchFamily="18" charset="0"/>
              </a:rPr>
              <a:t> and anxiety)</a:t>
            </a:r>
          </a:p>
          <a:p>
            <a:pPr algn="just">
              <a:lnSpc>
                <a:spcPct val="150000"/>
              </a:lnSpc>
            </a:pPr>
            <a:r>
              <a:rPr lang="en-US" sz="2400" b="1" dirty="0">
                <a:latin typeface="Times New Roman" panose="02020603050405020304" pitchFamily="18" charset="0"/>
                <a:cs typeface="Times New Roman" panose="02020603050405020304" pitchFamily="18" charset="0"/>
              </a:rPr>
              <a:t>Text Reading :</a:t>
            </a:r>
            <a:r>
              <a:rPr lang="en-US" sz="2400" dirty="0">
                <a:latin typeface="Times New Roman" panose="02020603050405020304" pitchFamily="18" charset="0"/>
                <a:cs typeface="Times New Roman" panose="02020603050405020304" pitchFamily="18" charset="0"/>
              </a:rPr>
              <a:t>Reads the text from the CSV file </a:t>
            </a:r>
          </a:p>
          <a:p>
            <a:pPr algn="just">
              <a:lnSpc>
                <a:spcPct val="150000"/>
              </a:lnSpc>
            </a:pPr>
            <a:r>
              <a:rPr lang="en-US" sz="2400" b="1" dirty="0">
                <a:latin typeface="Times New Roman" panose="02020603050405020304" pitchFamily="18" charset="0"/>
                <a:cs typeface="Times New Roman" panose="02020603050405020304" pitchFamily="18" charset="0"/>
              </a:rPr>
              <a:t>Speech recognition: </a:t>
            </a:r>
            <a:r>
              <a:rPr lang="en-US" sz="2400" dirty="0">
                <a:latin typeface="Times New Roman" panose="02020603050405020304" pitchFamily="18" charset="0"/>
                <a:cs typeface="Times New Roman" panose="02020603050405020304" pitchFamily="18" charset="0"/>
              </a:rPr>
              <a:t>recognizes the speech from the user </a:t>
            </a:r>
          </a:p>
          <a:p>
            <a:pPr algn="just">
              <a:lnSpc>
                <a:spcPct val="150000"/>
              </a:lnSpc>
            </a:pPr>
            <a:r>
              <a:rPr lang="en-US" sz="2400" b="1" dirty="0">
                <a:latin typeface="Times New Roman" panose="02020603050405020304" pitchFamily="18" charset="0"/>
                <a:cs typeface="Times New Roman" panose="02020603050405020304" pitchFamily="18" charset="0"/>
              </a:rPr>
              <a:t>Combined Result: </a:t>
            </a:r>
            <a:r>
              <a:rPr lang="en-US" sz="2400" dirty="0">
                <a:latin typeface="Times New Roman" panose="02020603050405020304" pitchFamily="18" charset="0"/>
                <a:cs typeface="Times New Roman" panose="02020603050405020304" pitchFamily="18" charset="0"/>
              </a:rPr>
              <a:t>Combines the facial expression and speech of user and detects the disorder</a:t>
            </a:r>
          </a:p>
          <a:p>
            <a:pPr>
              <a:lnSpc>
                <a:spcPct val="150000"/>
              </a:lnSpc>
            </a:pP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920639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75495"/>
            <a:ext cx="8229600" cy="639762"/>
          </a:xfrm>
        </p:spPr>
        <p:txBody>
          <a:bodyPr>
            <a:normAutofit/>
          </a:bodyPr>
          <a:lstStyle/>
          <a:p>
            <a:r>
              <a:rPr lang="en-IN" sz="3200" b="1" dirty="0">
                <a:latin typeface="Times New Roman" pitchFamily="18" charset="0"/>
                <a:cs typeface="Times New Roman" pitchFamily="18" charset="0"/>
              </a:rPr>
              <a:t>APPLICATIONS</a:t>
            </a:r>
          </a:p>
        </p:txBody>
      </p:sp>
      <p:sp>
        <p:nvSpPr>
          <p:cNvPr id="3" name="Content Placeholder 2"/>
          <p:cNvSpPr>
            <a:spLocks noGrp="1"/>
          </p:cNvSpPr>
          <p:nvPr>
            <p:ph idx="1"/>
          </p:nvPr>
        </p:nvSpPr>
        <p:spPr>
          <a:xfrm>
            <a:off x="266700" y="933237"/>
            <a:ext cx="8610600" cy="5788238"/>
          </a:xfrm>
        </p:spPr>
        <p:txBody>
          <a:bodyPr>
            <a:normAutofit fontScale="55000" lnSpcReduction="20000"/>
          </a:bodyPr>
          <a:lstStyle/>
          <a:p>
            <a:pPr marL="0" indent="0" algn="just">
              <a:lnSpc>
                <a:spcPct val="170000"/>
              </a:lnSpc>
              <a:buNone/>
            </a:pPr>
            <a:r>
              <a:rPr lang="en-US" sz="4400" b="1" dirty="0">
                <a:latin typeface="Times New Roman" pitchFamily="18" charset="0"/>
                <a:cs typeface="Times New Roman" pitchFamily="18" charset="0"/>
              </a:rPr>
              <a:t>Clinical Diagnosis </a:t>
            </a:r>
            <a:r>
              <a:rPr lang="en-US" sz="4400" b="1" dirty="0" err="1">
                <a:latin typeface="Times New Roman" pitchFamily="18" charset="0"/>
                <a:cs typeface="Times New Roman" pitchFamily="18" charset="0"/>
              </a:rPr>
              <a:t>Support:</a:t>
            </a:r>
            <a:r>
              <a:rPr lang="en-US" sz="4400" dirty="0" err="1">
                <a:latin typeface="Times New Roman" pitchFamily="18" charset="0"/>
                <a:cs typeface="Times New Roman" pitchFamily="18" charset="0"/>
              </a:rPr>
              <a:t>The</a:t>
            </a:r>
            <a:r>
              <a:rPr lang="en-US" sz="4400" dirty="0">
                <a:latin typeface="Times New Roman" pitchFamily="18" charset="0"/>
                <a:cs typeface="Times New Roman" pitchFamily="18" charset="0"/>
              </a:rPr>
              <a:t> system can assist psychologists, psychiatrists, and general practitioners by providing an additional layer of analysis, especially in complex cases.</a:t>
            </a:r>
          </a:p>
          <a:p>
            <a:pPr marL="0" indent="0" algn="just">
              <a:lnSpc>
                <a:spcPct val="170000"/>
              </a:lnSpc>
              <a:buNone/>
            </a:pPr>
            <a:r>
              <a:rPr lang="en-US" sz="4400" b="1" dirty="0" err="1">
                <a:latin typeface="Times New Roman" pitchFamily="18" charset="0"/>
                <a:cs typeface="Times New Roman" pitchFamily="18" charset="0"/>
              </a:rPr>
              <a:t>Telemedicine:</a:t>
            </a:r>
            <a:r>
              <a:rPr lang="en-US" sz="4400" dirty="0" err="1">
                <a:latin typeface="Times New Roman" pitchFamily="18" charset="0"/>
                <a:cs typeface="Times New Roman" pitchFamily="18" charset="0"/>
              </a:rPr>
              <a:t>The</a:t>
            </a:r>
            <a:r>
              <a:rPr lang="en-US" sz="4400" dirty="0">
                <a:latin typeface="Times New Roman" pitchFamily="18" charset="0"/>
                <a:cs typeface="Times New Roman" pitchFamily="18" charset="0"/>
              </a:rPr>
              <a:t> AI model can be integrated into telemedicine platforms, allowing remote diagnosis and monitoring of patients’ mental health, especially in underserved areas.</a:t>
            </a:r>
          </a:p>
          <a:p>
            <a:pPr marL="0" indent="0" algn="just">
              <a:lnSpc>
                <a:spcPct val="170000"/>
              </a:lnSpc>
              <a:buNone/>
            </a:pPr>
            <a:r>
              <a:rPr lang="en-US" sz="4400" b="1" dirty="0">
                <a:latin typeface="Times New Roman" pitchFamily="18" charset="0"/>
                <a:cs typeface="Times New Roman" pitchFamily="18" charset="0"/>
              </a:rPr>
              <a:t>Mental Health </a:t>
            </a:r>
            <a:r>
              <a:rPr lang="en-US" sz="4400" b="1" dirty="0" err="1">
                <a:latin typeface="Times New Roman" pitchFamily="18" charset="0"/>
                <a:cs typeface="Times New Roman" pitchFamily="18" charset="0"/>
              </a:rPr>
              <a:t>Apps</a:t>
            </a:r>
            <a:r>
              <a:rPr lang="en-US" sz="4400" dirty="0" err="1">
                <a:latin typeface="Times New Roman" pitchFamily="18" charset="0"/>
                <a:cs typeface="Times New Roman" pitchFamily="18" charset="0"/>
              </a:rPr>
              <a:t>:The</a:t>
            </a:r>
            <a:r>
              <a:rPr lang="en-US" sz="4400" dirty="0">
                <a:latin typeface="Times New Roman" pitchFamily="18" charset="0"/>
                <a:cs typeface="Times New Roman" pitchFamily="18" charset="0"/>
              </a:rPr>
              <a:t> AI can be used in mobile applications for self-monitoring, where individuals can input speech or text data and receive feedback on their mental health status, prompting them to seek professional help if needed.</a:t>
            </a:r>
          </a:p>
          <a:p>
            <a:pPr marL="0" indent="0" algn="just">
              <a:lnSpc>
                <a:spcPct val="170000"/>
              </a:lnSpc>
              <a:buNone/>
            </a:pPr>
            <a:endParaRPr lang="en-US" sz="2400" dirty="0">
              <a:latin typeface="Times New Roman" pitchFamily="18" charset="0"/>
              <a:cs typeface="Times New Roman" pitchFamily="18" charset="0"/>
            </a:endParaRPr>
          </a:p>
          <a:p>
            <a:pPr marL="0" indent="0" algn="just">
              <a:lnSpc>
                <a:spcPct val="170000"/>
              </a:lnSpc>
              <a:buNone/>
            </a:pPr>
            <a:endParaRPr lang="en-US" sz="2400" dirty="0">
              <a:latin typeface="Times New Roman" pitchFamily="18" charset="0"/>
              <a:cs typeface="Times New Roman" pitchFamily="18" charset="0"/>
            </a:endParaRPr>
          </a:p>
          <a:p>
            <a:pPr marL="0" indent="0" algn="just">
              <a:lnSpc>
                <a:spcPct val="170000"/>
              </a:lnSpc>
              <a:buNone/>
            </a:pPr>
            <a:endParaRPr lang="en-US" sz="2400" dirty="0">
              <a:latin typeface="Times New Roman" pitchFamily="18" charset="0"/>
              <a:cs typeface="Times New Roman" pitchFamily="18" charset="0"/>
            </a:endParaRPr>
          </a:p>
          <a:p>
            <a:pPr>
              <a:lnSpc>
                <a:spcPct val="170000"/>
              </a:lnSpc>
            </a:pPr>
            <a:endParaRPr lang="en-IN" dirty="0"/>
          </a:p>
        </p:txBody>
      </p:sp>
      <p:sp>
        <p:nvSpPr>
          <p:cNvPr id="4" name="Slide Number Placeholder 3"/>
          <p:cNvSpPr>
            <a:spLocks noGrp="1"/>
          </p:cNvSpPr>
          <p:nvPr>
            <p:ph type="sldNum" sz="quarter" idx="12"/>
          </p:nvPr>
        </p:nvSpPr>
        <p:spPr/>
        <p:txBody>
          <a:bodyPr/>
          <a:lstStyle/>
          <a:p>
            <a:fld id="{2DD4E219-0C0C-4937-870D-08D46E532289}" type="slidenum">
              <a:rPr lang="en-IN" smtClean="0"/>
              <a:pPr/>
              <a:t>11</a:t>
            </a:fld>
            <a:endParaRPr lang="en-IN"/>
          </a:p>
        </p:txBody>
      </p:sp>
    </p:spTree>
    <p:extLst>
      <p:ext uri="{BB962C8B-B14F-4D97-AF65-F5344CB8AC3E}">
        <p14:creationId xmlns:p14="http://schemas.microsoft.com/office/powerpoint/2010/main" val="32817458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8D3542E-C073-B3BA-6A1D-3D5263E86A2F}"/>
              </a:ext>
            </a:extLst>
          </p:cNvPr>
          <p:cNvSpPr>
            <a:spLocks noGrp="1"/>
          </p:cNvSpPr>
          <p:nvPr>
            <p:ph idx="1"/>
          </p:nvPr>
        </p:nvSpPr>
        <p:spPr>
          <a:xfrm>
            <a:off x="489155" y="609600"/>
            <a:ext cx="8229600" cy="5638800"/>
          </a:xfrm>
        </p:spPr>
        <p:txBody>
          <a:bodyPr>
            <a:noAutofit/>
          </a:bodyPr>
          <a:lstStyle/>
          <a:p>
            <a:pPr marL="0" indent="0" algn="just">
              <a:lnSpc>
                <a:spcPct val="150000"/>
              </a:lnSpc>
              <a:buNone/>
            </a:pPr>
            <a:r>
              <a:rPr lang="en-US" sz="2400" b="1" dirty="0">
                <a:latin typeface="Times New Roman" pitchFamily="18" charset="0"/>
                <a:cs typeface="Times New Roman" pitchFamily="18" charset="0"/>
              </a:rPr>
              <a:t>Workplace Mental Health </a:t>
            </a:r>
            <a:r>
              <a:rPr lang="en-US" sz="2400" b="1" dirty="0" err="1">
                <a:latin typeface="Times New Roman" pitchFamily="18" charset="0"/>
                <a:cs typeface="Times New Roman" pitchFamily="18" charset="0"/>
              </a:rPr>
              <a:t>Monitoring</a:t>
            </a:r>
            <a:r>
              <a:rPr lang="en-US" sz="2400" dirty="0" err="1">
                <a:latin typeface="Times New Roman" pitchFamily="18" charset="0"/>
                <a:cs typeface="Times New Roman" pitchFamily="18" charset="0"/>
              </a:rPr>
              <a:t>:Employers</a:t>
            </a:r>
            <a:r>
              <a:rPr lang="en-US" sz="2400" dirty="0">
                <a:latin typeface="Times New Roman" pitchFamily="18" charset="0"/>
                <a:cs typeface="Times New Roman" pitchFamily="18" charset="0"/>
              </a:rPr>
              <a:t> can use this technology to monitor employees' mental health in a non-intrusive manner, providing resources or interventions where signs of stress or burnout are detected.</a:t>
            </a:r>
          </a:p>
          <a:p>
            <a:pPr marL="0" indent="0" algn="just">
              <a:lnSpc>
                <a:spcPct val="150000"/>
              </a:lnSpc>
              <a:buNone/>
            </a:pPr>
            <a:r>
              <a:rPr lang="en-US" sz="2400" b="1" dirty="0">
                <a:latin typeface="Times New Roman" pitchFamily="18" charset="0"/>
                <a:cs typeface="Times New Roman" pitchFamily="18" charset="0"/>
              </a:rPr>
              <a:t>Educational </a:t>
            </a:r>
            <a:r>
              <a:rPr lang="en-US" sz="2400" b="1" dirty="0" err="1">
                <a:latin typeface="Times New Roman" pitchFamily="18" charset="0"/>
                <a:cs typeface="Times New Roman" pitchFamily="18" charset="0"/>
              </a:rPr>
              <a:t>Institutions:</a:t>
            </a:r>
            <a:r>
              <a:rPr lang="en-US" sz="2400" dirty="0" err="1">
                <a:latin typeface="Times New Roman" pitchFamily="18" charset="0"/>
                <a:cs typeface="Times New Roman" pitchFamily="18" charset="0"/>
              </a:rPr>
              <a:t>Schools</a:t>
            </a:r>
            <a:r>
              <a:rPr lang="en-US" sz="2400" dirty="0">
                <a:latin typeface="Times New Roman" pitchFamily="18" charset="0"/>
                <a:cs typeface="Times New Roman" pitchFamily="18" charset="0"/>
              </a:rPr>
              <a:t> and universities can use this system to detect mental health issues among students, providing early intervention to reduce dropout rates or academic decline due to mental health challenges.</a:t>
            </a:r>
            <a:endParaRPr lang="en-IN" sz="2400" dirty="0">
              <a:latin typeface="Times New Roman" pitchFamily="18" charset="0"/>
              <a:cs typeface="Times New Roman" pitchFamily="18" charset="0"/>
            </a:endParaRPr>
          </a:p>
          <a:p>
            <a:endParaRPr lang="en-IN" sz="2400" dirty="0"/>
          </a:p>
        </p:txBody>
      </p:sp>
      <p:sp>
        <p:nvSpPr>
          <p:cNvPr id="4" name="Slide Number Placeholder 3">
            <a:extLst>
              <a:ext uri="{FF2B5EF4-FFF2-40B4-BE49-F238E27FC236}">
                <a16:creationId xmlns:a16="http://schemas.microsoft.com/office/drawing/2014/main" id="{4DE96D2E-2D75-7780-09F1-9E9D070A1086}"/>
              </a:ext>
            </a:extLst>
          </p:cNvPr>
          <p:cNvSpPr>
            <a:spLocks noGrp="1"/>
          </p:cNvSpPr>
          <p:nvPr>
            <p:ph type="sldNum" sz="quarter" idx="12"/>
          </p:nvPr>
        </p:nvSpPr>
        <p:spPr/>
        <p:txBody>
          <a:bodyPr/>
          <a:lstStyle/>
          <a:p>
            <a:fld id="{2DD4E219-0C0C-4937-870D-08D46E532289}" type="slidenum">
              <a:rPr lang="en-IN" smtClean="0"/>
              <a:pPr/>
              <a:t>12</a:t>
            </a:fld>
            <a:endParaRPr lang="en-IN"/>
          </a:p>
        </p:txBody>
      </p:sp>
    </p:spTree>
    <p:extLst>
      <p:ext uri="{BB962C8B-B14F-4D97-AF65-F5344CB8AC3E}">
        <p14:creationId xmlns:p14="http://schemas.microsoft.com/office/powerpoint/2010/main" val="1698142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EC3FE8-6637-AAF0-855B-C5150CF1E971}"/>
              </a:ext>
            </a:extLst>
          </p:cNvPr>
          <p:cNvSpPr>
            <a:spLocks noGrp="1"/>
          </p:cNvSpPr>
          <p:nvPr>
            <p:ph type="title"/>
          </p:nvPr>
        </p:nvSpPr>
        <p:spPr/>
        <p:txBody>
          <a:bodyPr>
            <a:normAutofit/>
          </a:bodyPr>
          <a:lstStyle/>
          <a:p>
            <a:r>
              <a:rPr lang="en-US" sz="3200" b="1" dirty="0">
                <a:latin typeface="Times New Roman" panose="02020603050405020304" pitchFamily="18" charset="0"/>
                <a:cs typeface="Times New Roman" panose="02020603050405020304" pitchFamily="18" charset="0"/>
              </a:rPr>
              <a:t>SYSTEM DESIGN</a:t>
            </a:r>
            <a:endParaRPr lang="en-IN" sz="3200" b="1"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66B299A6-237F-0360-BFE7-134B685BBA95}"/>
              </a:ext>
            </a:extLst>
          </p:cNvPr>
          <p:cNvSpPr>
            <a:spLocks noGrp="1"/>
          </p:cNvSpPr>
          <p:nvPr>
            <p:ph type="sldNum" sz="quarter" idx="12"/>
          </p:nvPr>
        </p:nvSpPr>
        <p:spPr/>
        <p:txBody>
          <a:bodyPr/>
          <a:lstStyle/>
          <a:p>
            <a:fld id="{2DD4E219-0C0C-4937-870D-08D46E532289}" type="slidenum">
              <a:rPr lang="en-IN" smtClean="0"/>
              <a:pPr/>
              <a:t>13</a:t>
            </a:fld>
            <a:endParaRPr lang="en-IN"/>
          </a:p>
        </p:txBody>
      </p:sp>
      <p:pic>
        <p:nvPicPr>
          <p:cNvPr id="10" name="Content Placeholder 9">
            <a:extLst>
              <a:ext uri="{FF2B5EF4-FFF2-40B4-BE49-F238E27FC236}">
                <a16:creationId xmlns:a16="http://schemas.microsoft.com/office/drawing/2014/main" id="{10637BB1-EFA2-A94C-2961-E529C055E967}"/>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p:blipFill>
        <p:spPr>
          <a:xfrm>
            <a:off x="457200" y="1417638"/>
            <a:ext cx="8229600" cy="4938712"/>
          </a:xfrm>
        </p:spPr>
      </p:pic>
    </p:spTree>
    <p:extLst>
      <p:ext uri="{BB962C8B-B14F-4D97-AF65-F5344CB8AC3E}">
        <p14:creationId xmlns:p14="http://schemas.microsoft.com/office/powerpoint/2010/main" val="15801587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8D5F51-1D23-656C-FD77-E4E5E2570BF0}"/>
              </a:ext>
            </a:extLst>
          </p:cNvPr>
          <p:cNvSpPr>
            <a:spLocks noGrp="1"/>
          </p:cNvSpPr>
          <p:nvPr>
            <p:ph type="title"/>
          </p:nvPr>
        </p:nvSpPr>
        <p:spPr>
          <a:xfrm>
            <a:off x="473467" y="136525"/>
            <a:ext cx="8229600" cy="473075"/>
          </a:xfrm>
        </p:spPr>
        <p:txBody>
          <a:bodyPr>
            <a:normAutofit fontScale="90000"/>
          </a:bodyPr>
          <a:lstStyle/>
          <a:p>
            <a:r>
              <a:rPr lang="en-US" sz="3200" b="1" dirty="0">
                <a:latin typeface="Times New Roman" panose="02020603050405020304" pitchFamily="18" charset="0"/>
                <a:cs typeface="Times New Roman" panose="02020603050405020304" pitchFamily="18" charset="0"/>
              </a:rPr>
              <a:t>ALGORITHMS</a:t>
            </a:r>
            <a:endParaRPr lang="en-IN" sz="32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3284F71-FE06-BF8A-736D-3E583447EE10}"/>
              </a:ext>
            </a:extLst>
          </p:cNvPr>
          <p:cNvSpPr>
            <a:spLocks noGrp="1"/>
          </p:cNvSpPr>
          <p:nvPr>
            <p:ph idx="1"/>
          </p:nvPr>
        </p:nvSpPr>
        <p:spPr>
          <a:xfrm>
            <a:off x="244867" y="1066800"/>
            <a:ext cx="8458200" cy="7053262"/>
          </a:xfrm>
        </p:spPr>
        <p:txBody>
          <a:bodyPr>
            <a:noAutofit/>
          </a:bodyPr>
          <a:lstStyle/>
          <a:p>
            <a:pPr marL="0" indent="0" algn="just">
              <a:buNone/>
            </a:pPr>
            <a:r>
              <a:rPr lang="en-US" sz="2400" b="1" dirty="0">
                <a:latin typeface="Times New Roman" panose="02020603050405020304" pitchFamily="18" charset="0"/>
                <a:cs typeface="Times New Roman" panose="02020603050405020304" pitchFamily="18" charset="0"/>
              </a:rPr>
              <a:t>  CNN(convolutional neural network):</a:t>
            </a:r>
          </a:p>
          <a:p>
            <a:pPr algn="just">
              <a:lnSpc>
                <a:spcPct val="150000"/>
              </a:lnSpc>
            </a:pPr>
            <a:r>
              <a:rPr lang="en-US" sz="2200" dirty="0">
                <a:latin typeface="Times New Roman" panose="02020603050405020304" pitchFamily="18" charset="0"/>
                <a:cs typeface="Times New Roman" panose="02020603050405020304" pitchFamily="18" charset="0"/>
              </a:rPr>
              <a:t>Four convolutional blocks with filters increasing from 32 to 256, each with </a:t>
            </a:r>
            <a:r>
              <a:rPr lang="en-US" sz="2200" dirty="0" err="1">
                <a:latin typeface="Times New Roman" panose="02020603050405020304" pitchFamily="18" charset="0"/>
                <a:cs typeface="Times New Roman" panose="02020603050405020304" pitchFamily="18" charset="0"/>
              </a:rPr>
              <a:t>ReLU</a:t>
            </a:r>
            <a:r>
              <a:rPr lang="en-US" sz="2200" dirty="0">
                <a:latin typeface="Times New Roman" panose="02020603050405020304" pitchFamily="18" charset="0"/>
                <a:cs typeface="Times New Roman" panose="02020603050405020304" pitchFamily="18" charset="0"/>
              </a:rPr>
              <a:t> activation.</a:t>
            </a:r>
          </a:p>
          <a:p>
            <a:pPr algn="just">
              <a:lnSpc>
                <a:spcPct val="150000"/>
              </a:lnSpc>
            </a:pPr>
            <a:r>
              <a:rPr lang="en-US" sz="2200" dirty="0" err="1">
                <a:latin typeface="Times New Roman" panose="02020603050405020304" pitchFamily="18" charset="0"/>
                <a:cs typeface="Times New Roman" panose="02020603050405020304" pitchFamily="18" charset="0"/>
              </a:rPr>
              <a:t>MaxPooling</a:t>
            </a:r>
            <a:r>
              <a:rPr lang="en-US" sz="2200" dirty="0">
                <a:latin typeface="Times New Roman" panose="02020603050405020304" pitchFamily="18" charset="0"/>
                <a:cs typeface="Times New Roman" panose="02020603050405020304" pitchFamily="18" charset="0"/>
              </a:rPr>
              <a:t>: Reduces spatial dimensions after each convolutional block.</a:t>
            </a:r>
          </a:p>
          <a:p>
            <a:pPr algn="just">
              <a:lnSpc>
                <a:spcPct val="150000"/>
              </a:lnSpc>
            </a:pPr>
            <a:r>
              <a:rPr lang="en-US" sz="2200" dirty="0">
                <a:latin typeface="Times New Roman" panose="02020603050405020304" pitchFamily="18" charset="0"/>
                <a:cs typeface="Times New Roman" panose="02020603050405020304" pitchFamily="18" charset="0"/>
              </a:rPr>
              <a:t>Dropout: Applied after pooling layers to prevent overfitting (drop rates between 0.1 and 0.2).</a:t>
            </a:r>
          </a:p>
          <a:p>
            <a:pPr algn="just">
              <a:lnSpc>
                <a:spcPct val="150000"/>
              </a:lnSpc>
            </a:pPr>
            <a:r>
              <a:rPr lang="en-US" sz="2200" dirty="0">
                <a:latin typeface="Times New Roman" panose="02020603050405020304" pitchFamily="18" charset="0"/>
                <a:cs typeface="Times New Roman" panose="02020603050405020304" pitchFamily="18" charset="0"/>
              </a:rPr>
              <a:t>Fully Connected Layers: A dense layer with 512 units and </a:t>
            </a:r>
            <a:r>
              <a:rPr lang="en-US" sz="2200" dirty="0" err="1">
                <a:latin typeface="Times New Roman" panose="02020603050405020304" pitchFamily="18" charset="0"/>
                <a:cs typeface="Times New Roman" panose="02020603050405020304" pitchFamily="18" charset="0"/>
              </a:rPr>
              <a:t>ReLU</a:t>
            </a:r>
            <a:r>
              <a:rPr lang="en-US" sz="2200" dirty="0">
                <a:latin typeface="Times New Roman" panose="02020603050405020304" pitchFamily="18" charset="0"/>
                <a:cs typeface="Times New Roman" panose="02020603050405020304" pitchFamily="18" charset="0"/>
              </a:rPr>
              <a:t> activation.</a:t>
            </a:r>
          </a:p>
          <a:p>
            <a:pPr algn="just">
              <a:lnSpc>
                <a:spcPct val="150000"/>
              </a:lnSpc>
            </a:pPr>
            <a:r>
              <a:rPr lang="en-US" sz="2200" dirty="0">
                <a:latin typeface="Times New Roman" panose="02020603050405020304" pitchFamily="18" charset="0"/>
                <a:cs typeface="Times New Roman" panose="02020603050405020304" pitchFamily="18" charset="0"/>
              </a:rPr>
              <a:t>Output layer with 5 units (one per class) and a </a:t>
            </a:r>
            <a:r>
              <a:rPr lang="en-US" sz="2200" dirty="0" err="1">
                <a:latin typeface="Times New Roman" panose="02020603050405020304" pitchFamily="18" charset="0"/>
                <a:cs typeface="Times New Roman" panose="02020603050405020304" pitchFamily="18" charset="0"/>
              </a:rPr>
              <a:t>softmax</a:t>
            </a:r>
            <a:r>
              <a:rPr lang="en-US" sz="2200" dirty="0">
                <a:latin typeface="Times New Roman" panose="02020603050405020304" pitchFamily="18" charset="0"/>
                <a:cs typeface="Times New Roman" panose="02020603050405020304" pitchFamily="18" charset="0"/>
              </a:rPr>
              <a:t> activation for multi-class classification.</a:t>
            </a:r>
            <a:endParaRPr lang="en-IN" sz="22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B845AC46-AEF0-8AE5-732F-29D38FE0C6B8}"/>
              </a:ext>
            </a:extLst>
          </p:cNvPr>
          <p:cNvSpPr>
            <a:spLocks noGrp="1"/>
          </p:cNvSpPr>
          <p:nvPr>
            <p:ph type="sldNum" sz="quarter" idx="12"/>
          </p:nvPr>
        </p:nvSpPr>
        <p:spPr/>
        <p:txBody>
          <a:bodyPr/>
          <a:lstStyle/>
          <a:p>
            <a:fld id="{2DD4E219-0C0C-4937-870D-08D46E532289}" type="slidenum">
              <a:rPr lang="en-IN" smtClean="0"/>
              <a:pPr/>
              <a:t>14</a:t>
            </a:fld>
            <a:endParaRPr lang="en-IN"/>
          </a:p>
        </p:txBody>
      </p:sp>
    </p:spTree>
    <p:extLst>
      <p:ext uri="{BB962C8B-B14F-4D97-AF65-F5344CB8AC3E}">
        <p14:creationId xmlns:p14="http://schemas.microsoft.com/office/powerpoint/2010/main" val="7498820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BC27C61-713F-A4E0-4F30-CE0FECAE9FAA}"/>
              </a:ext>
            </a:extLst>
          </p:cNvPr>
          <p:cNvSpPr>
            <a:spLocks noGrp="1"/>
          </p:cNvSpPr>
          <p:nvPr>
            <p:ph idx="1"/>
          </p:nvPr>
        </p:nvSpPr>
        <p:spPr>
          <a:xfrm>
            <a:off x="457200" y="381000"/>
            <a:ext cx="8229600" cy="5745163"/>
          </a:xfrm>
        </p:spPr>
        <p:txBody>
          <a:bodyPr>
            <a:normAutofit/>
          </a:bodyPr>
          <a:lstStyle/>
          <a:p>
            <a:pPr marL="0" indent="0">
              <a:lnSpc>
                <a:spcPct val="150000"/>
              </a:lnSpc>
              <a:buNone/>
            </a:pPr>
            <a:r>
              <a:rPr lang="en-US" sz="2400" b="1" dirty="0">
                <a:latin typeface="Times New Roman" panose="02020603050405020304" pitchFamily="18" charset="0"/>
                <a:cs typeface="Times New Roman" panose="02020603050405020304" pitchFamily="18" charset="0"/>
              </a:rPr>
              <a:t>Speech Recognition and Natural Language Processing</a:t>
            </a:r>
          </a:p>
          <a:p>
            <a:pPr algn="just">
              <a:lnSpc>
                <a:spcPct val="150000"/>
              </a:lnSpc>
            </a:pPr>
            <a:r>
              <a:rPr lang="en-US" sz="2400" dirty="0">
                <a:latin typeface="Times New Roman" panose="02020603050405020304" pitchFamily="18" charset="0"/>
                <a:cs typeface="Times New Roman" panose="02020603050405020304" pitchFamily="18" charset="0"/>
              </a:rPr>
              <a:t>The code leverages the Web Speech API for speech recognition, allowing it to convert spoken input into text. This recognized text is then analyzed to determine if it matches any keywords associated with specific mental disorders.</a:t>
            </a:r>
          </a:p>
          <a:p>
            <a:pPr algn="just">
              <a:lnSpc>
                <a:spcPct val="150000"/>
              </a:lnSpc>
            </a:pPr>
            <a:r>
              <a:rPr lang="en-US" sz="2400" dirty="0">
                <a:latin typeface="Times New Roman" panose="02020603050405020304" pitchFamily="18" charset="0"/>
                <a:cs typeface="Times New Roman" panose="02020603050405020304" pitchFamily="18" charset="0"/>
              </a:rPr>
              <a:t>This code primarily combines keyword-based NLP, speech recognition, and text-to-speech synthesis to analyze speech input for indicators of specific mental disorders based on keywords, as defined in an uploaded CSV file</a:t>
            </a:r>
            <a:endParaRPr lang="en-IN" sz="24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97AC5097-0124-6C3A-352E-88DC0E4CEA72}"/>
              </a:ext>
            </a:extLst>
          </p:cNvPr>
          <p:cNvSpPr>
            <a:spLocks noGrp="1"/>
          </p:cNvSpPr>
          <p:nvPr>
            <p:ph type="sldNum" sz="quarter" idx="12"/>
          </p:nvPr>
        </p:nvSpPr>
        <p:spPr/>
        <p:txBody>
          <a:bodyPr/>
          <a:lstStyle/>
          <a:p>
            <a:fld id="{2DD4E219-0C0C-4937-870D-08D46E532289}" type="slidenum">
              <a:rPr lang="en-IN" smtClean="0"/>
              <a:pPr/>
              <a:t>15</a:t>
            </a:fld>
            <a:endParaRPr lang="en-IN"/>
          </a:p>
        </p:txBody>
      </p:sp>
    </p:spTree>
    <p:extLst>
      <p:ext uri="{BB962C8B-B14F-4D97-AF65-F5344CB8AC3E}">
        <p14:creationId xmlns:p14="http://schemas.microsoft.com/office/powerpoint/2010/main" val="31921921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4A6B24-8658-7986-F589-68CDC9412A6C}"/>
              </a:ext>
            </a:extLst>
          </p:cNvPr>
          <p:cNvSpPr>
            <a:spLocks noGrp="1"/>
          </p:cNvSpPr>
          <p:nvPr>
            <p:ph type="title"/>
          </p:nvPr>
        </p:nvSpPr>
        <p:spPr>
          <a:xfrm>
            <a:off x="457200" y="274638"/>
            <a:ext cx="8229600" cy="868362"/>
          </a:xfrm>
        </p:spPr>
        <p:txBody>
          <a:bodyPr>
            <a:normAutofit/>
          </a:bodyPr>
          <a:lstStyle/>
          <a:p>
            <a:pPr algn="ctr"/>
            <a:r>
              <a:rPr lang="en-US" sz="3200" dirty="0">
                <a:latin typeface="Times New Roman" panose="02020603050405020304" pitchFamily="18" charset="0"/>
                <a:cs typeface="Times New Roman" panose="02020603050405020304" pitchFamily="18" charset="0"/>
              </a:rPr>
              <a:t>  </a:t>
            </a:r>
            <a:r>
              <a:rPr lang="en-US" sz="3200" b="1" dirty="0">
                <a:latin typeface="Times New Roman" panose="02020603050405020304" pitchFamily="18" charset="0"/>
                <a:cs typeface="Times New Roman" panose="02020603050405020304" pitchFamily="18" charset="0"/>
              </a:rPr>
              <a:t>DATASETS</a:t>
            </a:r>
            <a:endParaRPr lang="en-IN" sz="3200" b="1" dirty="0">
              <a:latin typeface="Times New Roman" panose="02020603050405020304" pitchFamily="18" charset="0"/>
              <a:cs typeface="Times New Roman" panose="02020603050405020304" pitchFamily="18" charset="0"/>
            </a:endParaRPr>
          </a:p>
        </p:txBody>
      </p:sp>
      <p:pic>
        <p:nvPicPr>
          <p:cNvPr id="8" name="Content Placeholder 7">
            <a:extLst>
              <a:ext uri="{FF2B5EF4-FFF2-40B4-BE49-F238E27FC236}">
                <a16:creationId xmlns:a16="http://schemas.microsoft.com/office/drawing/2014/main" id="{D9F81F6E-F539-416A-A939-8DFAA01C3A0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041401" y="1331415"/>
            <a:ext cx="4832598" cy="3784795"/>
          </a:xfrm>
        </p:spPr>
      </p:pic>
      <p:sp>
        <p:nvSpPr>
          <p:cNvPr id="4" name="Slide Number Placeholder 3">
            <a:extLst>
              <a:ext uri="{FF2B5EF4-FFF2-40B4-BE49-F238E27FC236}">
                <a16:creationId xmlns:a16="http://schemas.microsoft.com/office/drawing/2014/main" id="{1A36128D-A8EF-D590-0A71-7965AA95A727}"/>
              </a:ext>
            </a:extLst>
          </p:cNvPr>
          <p:cNvSpPr>
            <a:spLocks noGrp="1"/>
          </p:cNvSpPr>
          <p:nvPr>
            <p:ph type="sldNum" sz="quarter" idx="12"/>
          </p:nvPr>
        </p:nvSpPr>
        <p:spPr/>
        <p:txBody>
          <a:bodyPr/>
          <a:lstStyle/>
          <a:p>
            <a:fld id="{2DD4E219-0C0C-4937-870D-08D46E532289}" type="slidenum">
              <a:rPr lang="en-IN" smtClean="0"/>
              <a:pPr/>
              <a:t>16</a:t>
            </a:fld>
            <a:endParaRPr lang="en-IN"/>
          </a:p>
        </p:txBody>
      </p:sp>
      <p:sp>
        <p:nvSpPr>
          <p:cNvPr id="6" name="Text Placeholder 5">
            <a:extLst>
              <a:ext uri="{FF2B5EF4-FFF2-40B4-BE49-F238E27FC236}">
                <a16:creationId xmlns:a16="http://schemas.microsoft.com/office/drawing/2014/main" id="{1C4D9C49-6EDB-DE6C-1323-5EC5D080A1F7}"/>
              </a:ext>
            </a:extLst>
          </p:cNvPr>
          <p:cNvSpPr>
            <a:spLocks noGrp="1"/>
          </p:cNvSpPr>
          <p:nvPr>
            <p:ph type="body" sz="half" idx="4294967295"/>
          </p:nvPr>
        </p:nvSpPr>
        <p:spPr>
          <a:xfrm>
            <a:off x="685800" y="5526585"/>
            <a:ext cx="7772400" cy="990600"/>
          </a:xfrm>
        </p:spPr>
        <p:txBody>
          <a:bodyPr>
            <a:normAutofit/>
          </a:bodyPr>
          <a:lstStyle/>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dataset consist of five classes that is stress, depressed, </a:t>
            </a:r>
            <a:r>
              <a:rPr lang="en-US" sz="2400" dirty="0" err="1">
                <a:latin typeface="Times New Roman" panose="02020603050405020304" pitchFamily="18" charset="0"/>
                <a:cs typeface="Times New Roman" panose="02020603050405020304" pitchFamily="18" charset="0"/>
              </a:rPr>
              <a:t>notdepressed</a:t>
            </a:r>
            <a:r>
              <a:rPr lang="en-US" sz="2400" dirty="0">
                <a:latin typeface="Times New Roman" panose="02020603050405020304" pitchFamily="18" charset="0"/>
                <a:cs typeface="Times New Roman" panose="02020603050405020304" pitchFamily="18" charset="0"/>
              </a:rPr>
              <a:t>, anxiety and no stress</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297918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D94906D-DA95-94A2-DFA6-60C889B0CC30}"/>
              </a:ext>
            </a:extLst>
          </p:cNvPr>
          <p:cNvSpPr>
            <a:spLocks noGrp="1"/>
          </p:cNvSpPr>
          <p:nvPr>
            <p:ph type="sldNum" sz="quarter" idx="12"/>
          </p:nvPr>
        </p:nvSpPr>
        <p:spPr/>
        <p:txBody>
          <a:bodyPr/>
          <a:lstStyle/>
          <a:p>
            <a:fld id="{2DD4E219-0C0C-4937-870D-08D46E532289}" type="slidenum">
              <a:rPr lang="en-IN" smtClean="0"/>
              <a:pPr/>
              <a:t>17</a:t>
            </a:fld>
            <a:endParaRPr lang="en-IN"/>
          </a:p>
        </p:txBody>
      </p:sp>
      <p:sp>
        <p:nvSpPr>
          <p:cNvPr id="8" name="Content Placeholder 7">
            <a:extLst>
              <a:ext uri="{FF2B5EF4-FFF2-40B4-BE49-F238E27FC236}">
                <a16:creationId xmlns:a16="http://schemas.microsoft.com/office/drawing/2014/main" id="{7F54996B-F88E-9BDA-B9F0-BB71ED86496C}"/>
              </a:ext>
            </a:extLst>
          </p:cNvPr>
          <p:cNvSpPr>
            <a:spLocks noGrp="1"/>
          </p:cNvSpPr>
          <p:nvPr>
            <p:ph idx="1"/>
          </p:nvPr>
        </p:nvSpPr>
        <p:spPr>
          <a:xfrm>
            <a:off x="609600" y="5410200"/>
            <a:ext cx="8229600" cy="869950"/>
          </a:xfrm>
        </p:spPr>
        <p:txBody>
          <a:bodyPr>
            <a:normAutofit lnSpcReduction="10000"/>
          </a:bodyPr>
          <a:lstStyle/>
          <a:p>
            <a:r>
              <a:rPr lang="en-US" sz="2400" dirty="0"/>
              <a:t>Csv dataset of speech to text  stress, </a:t>
            </a:r>
            <a:r>
              <a:rPr lang="en-US" sz="2400" dirty="0" err="1"/>
              <a:t>nostress,depressed</a:t>
            </a:r>
            <a:r>
              <a:rPr lang="en-US" sz="2400" dirty="0"/>
              <a:t>,</a:t>
            </a:r>
          </a:p>
          <a:p>
            <a:pPr marL="0" indent="0">
              <a:buNone/>
            </a:pPr>
            <a:r>
              <a:rPr lang="en-US" sz="2400" dirty="0"/>
              <a:t>     </a:t>
            </a:r>
            <a:r>
              <a:rPr lang="en-US" sz="2400" dirty="0" err="1"/>
              <a:t>notdepressed</a:t>
            </a:r>
            <a:r>
              <a:rPr lang="en-US" sz="2400" dirty="0"/>
              <a:t> and anxiety</a:t>
            </a:r>
            <a:endParaRPr lang="en-IN" sz="2400" dirty="0"/>
          </a:p>
        </p:txBody>
      </p:sp>
      <p:pic>
        <p:nvPicPr>
          <p:cNvPr id="10" name="Picture 9">
            <a:extLst>
              <a:ext uri="{FF2B5EF4-FFF2-40B4-BE49-F238E27FC236}">
                <a16:creationId xmlns:a16="http://schemas.microsoft.com/office/drawing/2014/main" id="{7230BA33-E998-E9B4-7069-692F36841B87}"/>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752600" y="861720"/>
            <a:ext cx="5638800" cy="4015080"/>
          </a:xfrm>
          <a:prstGeom prst="rect">
            <a:avLst/>
          </a:prstGeom>
        </p:spPr>
      </p:pic>
    </p:spTree>
    <p:extLst>
      <p:ext uri="{BB962C8B-B14F-4D97-AF65-F5344CB8AC3E}">
        <p14:creationId xmlns:p14="http://schemas.microsoft.com/office/powerpoint/2010/main" val="25476010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B2733C-3883-5100-0354-90069D24A6CF}"/>
              </a:ext>
            </a:extLst>
          </p:cNvPr>
          <p:cNvSpPr>
            <a:spLocks noGrp="1"/>
          </p:cNvSpPr>
          <p:nvPr>
            <p:ph type="title"/>
          </p:nvPr>
        </p:nvSpPr>
        <p:spPr>
          <a:xfrm>
            <a:off x="457200" y="274638"/>
            <a:ext cx="8229600" cy="1550610"/>
          </a:xfrm>
        </p:spPr>
        <p:txBody>
          <a:bodyPr>
            <a:normAutofit/>
          </a:bodyPr>
          <a:lstStyle/>
          <a:p>
            <a:pPr>
              <a:lnSpc>
                <a:spcPct val="150000"/>
              </a:lnSpc>
            </a:pPr>
            <a:r>
              <a:rPr lang="en-US" sz="3200" b="1" dirty="0">
                <a:latin typeface="Times New Roman" panose="02020603050405020304" pitchFamily="18" charset="0"/>
                <a:cs typeface="Times New Roman" panose="02020603050405020304" pitchFamily="18" charset="0"/>
              </a:rPr>
              <a:t>HARDWARE AND SOFTWARE REQUIREMENTS</a:t>
            </a:r>
            <a:endParaRPr lang="en-IN" sz="32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ED84024-D8E9-480C-FD6A-1321DDB36654}"/>
              </a:ext>
            </a:extLst>
          </p:cNvPr>
          <p:cNvSpPr>
            <a:spLocks noGrp="1"/>
          </p:cNvSpPr>
          <p:nvPr>
            <p:ph idx="1"/>
          </p:nvPr>
        </p:nvSpPr>
        <p:spPr>
          <a:xfrm>
            <a:off x="457200" y="2010380"/>
            <a:ext cx="8229600" cy="4525963"/>
          </a:xfrm>
        </p:spPr>
        <p:txBody>
          <a:bodyPr/>
          <a:lstStyle/>
          <a:p>
            <a:pPr marL="0" indent="0">
              <a:lnSpc>
                <a:spcPct val="150000"/>
              </a:lnSpc>
              <a:buNone/>
            </a:pPr>
            <a:r>
              <a:rPr lang="en-IN" sz="2400" b="1" dirty="0">
                <a:latin typeface="Times New Roman" panose="02020603050405020304" pitchFamily="18" charset="0"/>
                <a:cs typeface="Times New Roman" panose="02020603050405020304" pitchFamily="18" charset="0"/>
              </a:rPr>
              <a:t>Hardware requirements</a:t>
            </a:r>
            <a:r>
              <a:rPr lang="en-IN" dirty="0"/>
              <a:t>:</a:t>
            </a:r>
          </a:p>
          <a:p>
            <a:pPr>
              <a:lnSpc>
                <a:spcPct val="150000"/>
              </a:lnSpc>
            </a:pPr>
            <a:r>
              <a:rPr lang="en-IN" sz="2400" dirty="0"/>
              <a:t>RAM(8.00 GB)</a:t>
            </a:r>
          </a:p>
          <a:p>
            <a:pPr>
              <a:lnSpc>
                <a:spcPct val="150000"/>
              </a:lnSpc>
            </a:pPr>
            <a:r>
              <a:rPr lang="en-IN" sz="2400" dirty="0"/>
              <a:t>Processor(Intel CORE i5 processor with 2.9GHz)</a:t>
            </a:r>
          </a:p>
          <a:p>
            <a:pPr marL="0" indent="0">
              <a:lnSpc>
                <a:spcPct val="150000"/>
              </a:lnSpc>
              <a:buNone/>
            </a:pPr>
            <a:r>
              <a:rPr lang="en-IN" sz="2400" b="1" dirty="0">
                <a:latin typeface="Times New Roman" panose="02020603050405020304" pitchFamily="18" charset="0"/>
                <a:cs typeface="Times New Roman" panose="02020603050405020304" pitchFamily="18" charset="0"/>
              </a:rPr>
              <a:t>Software requirement</a:t>
            </a:r>
            <a:r>
              <a:rPr lang="en-IN" sz="2400" dirty="0"/>
              <a:t>:</a:t>
            </a:r>
          </a:p>
          <a:p>
            <a:pPr>
              <a:lnSpc>
                <a:spcPct val="150000"/>
              </a:lnSpc>
            </a:pPr>
            <a:r>
              <a:rPr lang="en-IN" sz="2400" dirty="0">
                <a:latin typeface="Times New Roman" panose="02020603050405020304" pitchFamily="18" charset="0"/>
                <a:cs typeface="Times New Roman" panose="02020603050405020304" pitchFamily="18" charset="0"/>
              </a:rPr>
              <a:t>VS code</a:t>
            </a:r>
          </a:p>
          <a:p>
            <a:pPr>
              <a:lnSpc>
                <a:spcPct val="150000"/>
              </a:lnSpc>
            </a:pPr>
            <a:r>
              <a:rPr lang="en-IN" sz="2400" dirty="0" err="1">
                <a:latin typeface="Times New Roman" panose="02020603050405020304" pitchFamily="18" charset="0"/>
                <a:cs typeface="Times New Roman" panose="02020603050405020304" pitchFamily="18" charset="0"/>
              </a:rPr>
              <a:t>Jupyter</a:t>
            </a:r>
            <a:r>
              <a:rPr lang="en-IN" sz="2400" dirty="0">
                <a:latin typeface="Times New Roman" panose="02020603050405020304" pitchFamily="18" charset="0"/>
                <a:cs typeface="Times New Roman" panose="02020603050405020304" pitchFamily="18" charset="0"/>
              </a:rPr>
              <a:t> Notebook</a:t>
            </a:r>
          </a:p>
        </p:txBody>
      </p:sp>
      <p:sp>
        <p:nvSpPr>
          <p:cNvPr id="4" name="Slide Number Placeholder 3">
            <a:extLst>
              <a:ext uri="{FF2B5EF4-FFF2-40B4-BE49-F238E27FC236}">
                <a16:creationId xmlns:a16="http://schemas.microsoft.com/office/drawing/2014/main" id="{F7BADD90-F665-12F4-8018-3DB50754BA4D}"/>
              </a:ext>
            </a:extLst>
          </p:cNvPr>
          <p:cNvSpPr>
            <a:spLocks noGrp="1"/>
          </p:cNvSpPr>
          <p:nvPr>
            <p:ph type="sldNum" sz="quarter" idx="12"/>
          </p:nvPr>
        </p:nvSpPr>
        <p:spPr/>
        <p:txBody>
          <a:bodyPr/>
          <a:lstStyle/>
          <a:p>
            <a:fld id="{2DD4E219-0C0C-4937-870D-08D46E532289}" type="slidenum">
              <a:rPr lang="en-IN" smtClean="0"/>
              <a:pPr/>
              <a:t>18</a:t>
            </a:fld>
            <a:endParaRPr lang="en-IN"/>
          </a:p>
        </p:txBody>
      </p:sp>
    </p:spTree>
    <p:extLst>
      <p:ext uri="{BB962C8B-B14F-4D97-AF65-F5344CB8AC3E}">
        <p14:creationId xmlns:p14="http://schemas.microsoft.com/office/powerpoint/2010/main" val="16483298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E782E9-6D31-7300-89A6-8FEF231E593C}"/>
              </a:ext>
            </a:extLst>
          </p:cNvPr>
          <p:cNvSpPr>
            <a:spLocks noGrp="1"/>
          </p:cNvSpPr>
          <p:nvPr>
            <p:ph type="title"/>
          </p:nvPr>
        </p:nvSpPr>
        <p:spPr/>
        <p:txBody>
          <a:bodyPr>
            <a:normAutofit/>
          </a:bodyPr>
          <a:lstStyle/>
          <a:p>
            <a:r>
              <a:rPr lang="en-US" sz="3200" b="1" dirty="0">
                <a:latin typeface="Times New Roman" panose="02020603050405020304" pitchFamily="18" charset="0"/>
                <a:cs typeface="Times New Roman" panose="02020603050405020304" pitchFamily="18" charset="0"/>
              </a:rPr>
              <a:t>IMPLEMENTATION</a:t>
            </a:r>
            <a:endParaRPr lang="en-IN" sz="3200" b="1"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55CC7346-2F36-DB7E-2E7E-019475702336}"/>
              </a:ext>
            </a:extLst>
          </p:cNvPr>
          <p:cNvSpPr>
            <a:spLocks noGrp="1"/>
          </p:cNvSpPr>
          <p:nvPr>
            <p:ph type="sldNum" sz="quarter" idx="12"/>
          </p:nvPr>
        </p:nvSpPr>
        <p:spPr/>
        <p:txBody>
          <a:bodyPr/>
          <a:lstStyle/>
          <a:p>
            <a:fld id="{2DD4E219-0C0C-4937-870D-08D46E532289}" type="slidenum">
              <a:rPr lang="en-IN" smtClean="0"/>
              <a:pPr/>
              <a:t>19</a:t>
            </a:fld>
            <a:endParaRPr lang="en-IN"/>
          </a:p>
        </p:txBody>
      </p:sp>
      <p:pic>
        <p:nvPicPr>
          <p:cNvPr id="8" name="Content Placeholder 7">
            <a:extLst>
              <a:ext uri="{FF2B5EF4-FFF2-40B4-BE49-F238E27FC236}">
                <a16:creationId xmlns:a16="http://schemas.microsoft.com/office/drawing/2014/main" id="{67C5D7ED-6CBE-7A69-BA89-42A16E3B235A}"/>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838200" y="1600200"/>
            <a:ext cx="7467600" cy="4068762"/>
          </a:xfrm>
        </p:spPr>
      </p:pic>
    </p:spTree>
    <p:extLst>
      <p:ext uri="{BB962C8B-B14F-4D97-AF65-F5344CB8AC3E}">
        <p14:creationId xmlns:p14="http://schemas.microsoft.com/office/powerpoint/2010/main" val="25604843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B4A013C-9D09-F69A-BFBE-DD4BF3994488}"/>
              </a:ext>
            </a:extLst>
          </p:cNvPr>
          <p:cNvSpPr>
            <a:spLocks noGrp="1"/>
          </p:cNvSpPr>
          <p:nvPr>
            <p:ph type="sldNum" sz="quarter" idx="12"/>
          </p:nvPr>
        </p:nvSpPr>
        <p:spPr/>
        <p:txBody>
          <a:bodyPr/>
          <a:lstStyle/>
          <a:p>
            <a:fld id="{2DD4E219-0C0C-4937-870D-08D46E532289}" type="slidenum">
              <a:rPr lang="en-IN" smtClean="0"/>
              <a:pPr/>
              <a:t>20</a:t>
            </a:fld>
            <a:endParaRPr lang="en-IN"/>
          </a:p>
        </p:txBody>
      </p:sp>
      <p:sp>
        <p:nvSpPr>
          <p:cNvPr id="3" name="Content Placeholder 2">
            <a:extLst>
              <a:ext uri="{FF2B5EF4-FFF2-40B4-BE49-F238E27FC236}">
                <a16:creationId xmlns:a16="http://schemas.microsoft.com/office/drawing/2014/main" id="{3F192F79-CE67-46CD-43BB-87984B539D3C}"/>
              </a:ext>
            </a:extLst>
          </p:cNvPr>
          <p:cNvSpPr>
            <a:spLocks noGrp="1"/>
          </p:cNvSpPr>
          <p:nvPr>
            <p:ph idx="1"/>
          </p:nvPr>
        </p:nvSpPr>
        <p:spPr>
          <a:xfrm>
            <a:off x="457199" y="609600"/>
            <a:ext cx="8229600" cy="4525963"/>
          </a:xfrm>
        </p:spPr>
        <p:txBody>
          <a:bodyPr/>
          <a:lstStyle/>
          <a:p>
            <a:pPr marL="0" indent="0">
              <a:buNone/>
            </a:pPr>
            <a:r>
              <a:rPr lang="en-US" dirty="0"/>
              <a:t>   </a:t>
            </a:r>
            <a:endParaRPr lang="en-IN" dirty="0"/>
          </a:p>
        </p:txBody>
      </p:sp>
      <p:pic>
        <p:nvPicPr>
          <p:cNvPr id="5" name="Picture 4">
            <a:extLst>
              <a:ext uri="{FF2B5EF4-FFF2-40B4-BE49-F238E27FC236}">
                <a16:creationId xmlns:a16="http://schemas.microsoft.com/office/drawing/2014/main" id="{202BF3D8-F612-DE7F-9A80-E14010CC104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4899" y="990600"/>
            <a:ext cx="6934199" cy="4648200"/>
          </a:xfrm>
          <a:prstGeom prst="rect">
            <a:avLst/>
          </a:prstGeom>
        </p:spPr>
      </p:pic>
    </p:spTree>
    <p:extLst>
      <p:ext uri="{BB962C8B-B14F-4D97-AF65-F5344CB8AC3E}">
        <p14:creationId xmlns:p14="http://schemas.microsoft.com/office/powerpoint/2010/main" val="4933459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001000" cy="1096962"/>
          </a:xfrm>
        </p:spPr>
        <p:txBody>
          <a:bodyPr>
            <a:normAutofit/>
          </a:bodyPr>
          <a:lstStyle/>
          <a:p>
            <a:r>
              <a:rPr lang="en-IN" sz="3200" b="1" dirty="0">
                <a:latin typeface="Times New Roman" pitchFamily="18" charset="0"/>
                <a:cs typeface="Times New Roman" pitchFamily="18" charset="0"/>
              </a:rPr>
              <a:t>SYSTEM TESTING</a:t>
            </a:r>
          </a:p>
        </p:txBody>
      </p:sp>
      <p:sp>
        <p:nvSpPr>
          <p:cNvPr id="4" name="Slide Number Placeholder 3"/>
          <p:cNvSpPr>
            <a:spLocks noGrp="1"/>
          </p:cNvSpPr>
          <p:nvPr>
            <p:ph type="sldNum" sz="quarter" idx="12"/>
          </p:nvPr>
        </p:nvSpPr>
        <p:spPr/>
        <p:txBody>
          <a:bodyPr/>
          <a:lstStyle/>
          <a:p>
            <a:fld id="{2DD4E219-0C0C-4937-870D-08D46E532289}" type="slidenum">
              <a:rPr lang="en-IN" smtClean="0"/>
              <a:pPr/>
              <a:t>21</a:t>
            </a:fld>
            <a:endParaRPr lang="en-IN"/>
          </a:p>
        </p:txBody>
      </p:sp>
      <p:sp>
        <p:nvSpPr>
          <p:cNvPr id="3" name="Content Placeholder 2">
            <a:extLst>
              <a:ext uri="{FF2B5EF4-FFF2-40B4-BE49-F238E27FC236}">
                <a16:creationId xmlns:a16="http://schemas.microsoft.com/office/drawing/2014/main" id="{38C11124-FF2D-2ADF-94BA-4377299D507E}"/>
              </a:ext>
            </a:extLst>
          </p:cNvPr>
          <p:cNvSpPr>
            <a:spLocks noGrp="1"/>
          </p:cNvSpPr>
          <p:nvPr>
            <p:ph idx="1"/>
          </p:nvPr>
        </p:nvSpPr>
        <p:spPr>
          <a:xfrm>
            <a:off x="495300" y="1447800"/>
            <a:ext cx="8153400" cy="4678363"/>
          </a:xfrm>
        </p:spPr>
        <p:txBody>
          <a:bodyPr>
            <a:normAutofit/>
          </a:bodyPr>
          <a:lstStyle/>
          <a:p>
            <a:pPr marL="271463" lvl="1" indent="-271463"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Test the face detection (e.g., using </a:t>
            </a:r>
            <a:r>
              <a:rPr lang="en-US" sz="2400" dirty="0" err="1">
                <a:latin typeface="Times New Roman" panose="02020603050405020304" pitchFamily="18" charset="0"/>
                <a:cs typeface="Times New Roman" panose="02020603050405020304" pitchFamily="18" charset="0"/>
              </a:rPr>
              <a:t>Haar</a:t>
            </a:r>
            <a:r>
              <a:rPr lang="en-US" sz="2400" dirty="0">
                <a:latin typeface="Times New Roman" panose="02020603050405020304" pitchFamily="18" charset="0"/>
                <a:cs typeface="Times New Roman" panose="02020603050405020304" pitchFamily="18" charset="0"/>
              </a:rPr>
              <a:t> Cascade) for proper extraction of features..</a:t>
            </a:r>
          </a:p>
          <a:p>
            <a:pPr marL="271463" lvl="1" indent="-271463"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Test the natural language processing (NLP) model for identifying keywords or emotions.</a:t>
            </a:r>
          </a:p>
          <a:p>
            <a:pPr marL="271463" lvl="1" indent="-271463"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Test the logic that combines outputs from face and text analysis to give the final result.</a:t>
            </a:r>
          </a:p>
          <a:p>
            <a:pPr marL="174625" lvl="1" indent="-174625"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Validate the model's performance and integration.</a:t>
            </a:r>
          </a:p>
          <a:p>
            <a:pPr marL="457200" lvl="1" indent="0" algn="just">
              <a:lnSpc>
                <a:spcPct val="150000"/>
              </a:lnSpc>
              <a:buNone/>
            </a:pPr>
            <a:endParaRPr lang="en-US" sz="2400" dirty="0">
              <a:latin typeface="Times New Roman" panose="02020603050405020304" pitchFamily="18" charset="0"/>
              <a:cs typeface="Times New Roman" panose="02020603050405020304" pitchFamily="18" charset="0"/>
            </a:endParaRPr>
          </a:p>
          <a:p>
            <a:pPr marL="0" indent="0">
              <a:buNone/>
            </a:pPr>
            <a:endParaRPr lang="en-IN" dirty="0"/>
          </a:p>
        </p:txBody>
      </p:sp>
    </p:spTree>
    <p:extLst>
      <p:ext uri="{BB962C8B-B14F-4D97-AF65-F5344CB8AC3E}">
        <p14:creationId xmlns:p14="http://schemas.microsoft.com/office/powerpoint/2010/main" val="13235607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dirty="0">
                <a:latin typeface="Times New Roman" pitchFamily="18" charset="0"/>
                <a:cs typeface="Times New Roman" pitchFamily="18" charset="0"/>
              </a:rPr>
              <a:t>RESULT ANALYSIS</a:t>
            </a:r>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3461253305"/>
              </p:ext>
            </p:extLst>
          </p:nvPr>
        </p:nvGraphicFramePr>
        <p:xfrm>
          <a:off x="381000" y="2895600"/>
          <a:ext cx="7772401" cy="2714755"/>
        </p:xfrm>
        <a:graphic>
          <a:graphicData uri="http://schemas.openxmlformats.org/drawingml/2006/table">
            <a:tbl>
              <a:tblPr/>
              <a:tblGrid>
                <a:gridCol w="1583721">
                  <a:extLst>
                    <a:ext uri="{9D8B030D-6E8A-4147-A177-3AD203B41FA5}">
                      <a16:colId xmlns:a16="http://schemas.microsoft.com/office/drawing/2014/main" val="20000"/>
                    </a:ext>
                  </a:extLst>
                </a:gridCol>
                <a:gridCol w="1504928">
                  <a:extLst>
                    <a:ext uri="{9D8B030D-6E8A-4147-A177-3AD203B41FA5}">
                      <a16:colId xmlns:a16="http://schemas.microsoft.com/office/drawing/2014/main" val="20001"/>
                    </a:ext>
                  </a:extLst>
                </a:gridCol>
                <a:gridCol w="2341002">
                  <a:extLst>
                    <a:ext uri="{9D8B030D-6E8A-4147-A177-3AD203B41FA5}">
                      <a16:colId xmlns:a16="http://schemas.microsoft.com/office/drawing/2014/main" val="20002"/>
                    </a:ext>
                  </a:extLst>
                </a:gridCol>
                <a:gridCol w="2342750">
                  <a:extLst>
                    <a:ext uri="{9D8B030D-6E8A-4147-A177-3AD203B41FA5}">
                      <a16:colId xmlns:a16="http://schemas.microsoft.com/office/drawing/2014/main" val="20004"/>
                    </a:ext>
                  </a:extLst>
                </a:gridCol>
              </a:tblGrid>
              <a:tr h="675704">
                <a:tc rowSpan="3">
                  <a:txBody>
                    <a:bodyPr/>
                    <a:lstStyle/>
                    <a:p>
                      <a:pPr marL="0" marR="0" algn="ctr">
                        <a:lnSpc>
                          <a:spcPct val="150000"/>
                        </a:lnSpc>
                        <a:spcBef>
                          <a:spcPts val="0"/>
                        </a:spcBef>
                        <a:spcAft>
                          <a:spcPts val="1200"/>
                        </a:spcAft>
                      </a:pPr>
                      <a:r>
                        <a:rPr lang="en-IN" sz="1800" b="1" dirty="0">
                          <a:solidFill>
                            <a:srgbClr val="000000"/>
                          </a:solidFill>
                          <a:latin typeface="Times New Roman"/>
                          <a:ea typeface="Times New Roman"/>
                        </a:rPr>
                        <a:t>Training Size</a:t>
                      </a:r>
                      <a:endParaRPr lang="en-US" sz="1800" dirty="0">
                        <a:solidFill>
                          <a:srgbClr val="000000"/>
                        </a:solidFill>
                        <a:latin typeface="Times New Roman"/>
                        <a:ea typeface="Times New Roman"/>
                      </a:endParaRPr>
                    </a:p>
                  </a:txBody>
                  <a:tcPr marL="81392" marR="8139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3">
                  <a:txBody>
                    <a:bodyPr/>
                    <a:lstStyle/>
                    <a:p>
                      <a:pPr marL="0" marR="0" algn="ctr">
                        <a:lnSpc>
                          <a:spcPct val="150000"/>
                        </a:lnSpc>
                        <a:spcBef>
                          <a:spcPts val="0"/>
                        </a:spcBef>
                        <a:spcAft>
                          <a:spcPts val="1200"/>
                        </a:spcAft>
                      </a:pPr>
                      <a:r>
                        <a:rPr lang="en-IN" sz="1800" b="1" dirty="0">
                          <a:solidFill>
                            <a:srgbClr val="000000"/>
                          </a:solidFill>
                          <a:latin typeface="Times New Roman"/>
                          <a:ea typeface="Times New Roman"/>
                        </a:rPr>
                        <a:t>Testing Size</a:t>
                      </a:r>
                      <a:endParaRPr lang="en-US" sz="1800" dirty="0">
                        <a:solidFill>
                          <a:srgbClr val="000000"/>
                        </a:solidFill>
                        <a:latin typeface="Times New Roman"/>
                        <a:ea typeface="Times New Roman"/>
                      </a:endParaRPr>
                    </a:p>
                  </a:txBody>
                  <a:tcPr marL="81392" marR="8139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a:txBody>
                    <a:bodyPr/>
                    <a:lstStyle/>
                    <a:p>
                      <a:pPr marL="0" marR="0" algn="ctr">
                        <a:lnSpc>
                          <a:spcPct val="150000"/>
                        </a:lnSpc>
                        <a:spcBef>
                          <a:spcPts val="0"/>
                        </a:spcBef>
                        <a:spcAft>
                          <a:spcPts val="1200"/>
                        </a:spcAft>
                      </a:pPr>
                      <a:r>
                        <a:rPr lang="en-IN" sz="1800" b="1" dirty="0">
                          <a:solidFill>
                            <a:srgbClr val="000000"/>
                          </a:solidFill>
                          <a:latin typeface="Times New Roman"/>
                          <a:ea typeface="Times New Roman"/>
                        </a:rPr>
                        <a:t>Accuracy (%)</a:t>
                      </a:r>
                      <a:endParaRPr lang="en-US" sz="1800" dirty="0">
                        <a:solidFill>
                          <a:srgbClr val="000000"/>
                        </a:solidFill>
                        <a:latin typeface="Times New Roman"/>
                        <a:ea typeface="Times New Roman"/>
                      </a:endParaRPr>
                    </a:p>
                  </a:txBody>
                  <a:tcPr marL="81392" marR="8139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lnL w="12700" cap="flat" cmpd="sng" algn="ctr">
                      <a:solidFill>
                        <a:srgbClr val="000000"/>
                      </a:solidFill>
                      <a:prstDash val="solid"/>
                      <a:round/>
                      <a:headEnd type="none" w="med" len="med"/>
                      <a:tailEnd type="none" w="med" len="med"/>
                    </a:lnL>
                  </a:tcPr>
                </a:tc>
                <a:extLst>
                  <a:ext uri="{0D108BD9-81ED-4DB2-BD59-A6C34878D82A}">
                    <a16:rowId xmlns:a16="http://schemas.microsoft.com/office/drawing/2014/main" val="10000"/>
                  </a:ext>
                </a:extLst>
              </a:tr>
              <a:tr h="675704">
                <a:tc vMerge="1">
                  <a:txBody>
                    <a:bodyPr/>
                    <a:lstStyle/>
                    <a:p>
                      <a:endParaRPr lang="en-US"/>
                    </a:p>
                  </a:txBody>
                  <a:tcPr/>
                </a:tc>
                <a:tc vMerge="1">
                  <a:txBody>
                    <a:bodyPr/>
                    <a:lstStyle/>
                    <a:p>
                      <a:endParaRPr lang="en-US"/>
                    </a:p>
                  </a:txBody>
                  <a:tcPr/>
                </a:tc>
                <a:tc>
                  <a:txBody>
                    <a:bodyPr/>
                    <a:lstStyle/>
                    <a:p>
                      <a:pPr marL="0" marR="0" algn="ctr">
                        <a:lnSpc>
                          <a:spcPct val="150000"/>
                        </a:lnSpc>
                        <a:spcBef>
                          <a:spcPts val="0"/>
                        </a:spcBef>
                        <a:spcAft>
                          <a:spcPts val="1200"/>
                        </a:spcAft>
                      </a:pPr>
                      <a:r>
                        <a:rPr lang="en-US" sz="1800" dirty="0">
                          <a:solidFill>
                            <a:srgbClr val="000000"/>
                          </a:solidFill>
                          <a:latin typeface="Times New Roman"/>
                          <a:ea typeface="Times New Roman"/>
                        </a:rPr>
                        <a:t>CNN</a:t>
                      </a:r>
                    </a:p>
                  </a:txBody>
                  <a:tcPr marL="81392" marR="81392" marT="0" marB="0">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50000"/>
                        </a:lnSpc>
                        <a:spcBef>
                          <a:spcPts val="0"/>
                        </a:spcBef>
                        <a:spcAft>
                          <a:spcPts val="1200"/>
                        </a:spcAft>
                      </a:pPr>
                      <a:r>
                        <a:rPr lang="en-US" sz="1800" dirty="0">
                          <a:solidFill>
                            <a:srgbClr val="000000"/>
                          </a:solidFill>
                          <a:latin typeface="Times New Roman"/>
                          <a:ea typeface="Times New Roman"/>
                        </a:rPr>
                        <a:t>NLP</a:t>
                      </a:r>
                    </a:p>
                  </a:txBody>
                  <a:tcPr marL="81392" marR="8139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0">
                <a:tc vMerge="1">
                  <a:txBody>
                    <a:bodyPr/>
                    <a:lstStyle/>
                    <a:p>
                      <a:endParaRPr lang="en-IN"/>
                    </a:p>
                  </a:txBody>
                  <a:tcPr/>
                </a:tc>
                <a:tc vMerge="1">
                  <a:txBody>
                    <a:bodyPr/>
                    <a:lstStyle/>
                    <a:p>
                      <a:endParaRPr lang="en-IN"/>
                    </a:p>
                  </a:txBody>
                  <a:tcPr/>
                </a:tc>
                <a:tc rowSpan="2">
                  <a:txBody>
                    <a:bodyPr/>
                    <a:lstStyle/>
                    <a:p>
                      <a:pPr marL="0" marR="0" algn="ctr">
                        <a:lnSpc>
                          <a:spcPct val="150000"/>
                        </a:lnSpc>
                        <a:spcBef>
                          <a:spcPts val="0"/>
                        </a:spcBef>
                        <a:spcAft>
                          <a:spcPts val="1200"/>
                        </a:spcAft>
                      </a:pPr>
                      <a:r>
                        <a:rPr lang="en-US" sz="1800" dirty="0">
                          <a:solidFill>
                            <a:srgbClr val="000000"/>
                          </a:solidFill>
                          <a:latin typeface="Times New Roman"/>
                          <a:ea typeface="Times New Roman"/>
                        </a:rPr>
                        <a:t>70%</a:t>
                      </a:r>
                    </a:p>
                  </a:txBody>
                  <a:tcPr marL="81392" marR="81392" marT="0" marB="0">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2">
                  <a:txBody>
                    <a:bodyPr/>
                    <a:lstStyle/>
                    <a:p>
                      <a:pPr marL="0" marR="0" algn="ctr">
                        <a:lnSpc>
                          <a:spcPct val="150000"/>
                        </a:lnSpc>
                        <a:spcBef>
                          <a:spcPts val="0"/>
                        </a:spcBef>
                        <a:spcAft>
                          <a:spcPts val="1200"/>
                        </a:spcAft>
                      </a:pPr>
                      <a:r>
                        <a:rPr lang="en-US" sz="1800" dirty="0">
                          <a:solidFill>
                            <a:srgbClr val="000000"/>
                          </a:solidFill>
                          <a:latin typeface="Times New Roman"/>
                          <a:ea typeface="Times New Roman"/>
                        </a:rPr>
                        <a:t>95%</a:t>
                      </a:r>
                    </a:p>
                  </a:txBody>
                  <a:tcPr marL="81392" marR="8139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46363297"/>
                  </a:ext>
                </a:extLst>
              </a:tr>
              <a:tr h="662243">
                <a:tc>
                  <a:txBody>
                    <a:bodyPr/>
                    <a:lstStyle/>
                    <a:p>
                      <a:pPr marL="0" marR="0" algn="just">
                        <a:lnSpc>
                          <a:spcPct val="150000"/>
                        </a:lnSpc>
                        <a:spcBef>
                          <a:spcPts val="0"/>
                        </a:spcBef>
                        <a:spcAft>
                          <a:spcPts val="1200"/>
                        </a:spcAft>
                      </a:pPr>
                      <a:r>
                        <a:rPr lang="en-IN" sz="1800">
                          <a:solidFill>
                            <a:srgbClr val="000000"/>
                          </a:solidFill>
                          <a:latin typeface="Times New Roman"/>
                          <a:ea typeface="Arial"/>
                        </a:rPr>
                        <a:t>80%</a:t>
                      </a:r>
                      <a:endParaRPr lang="en-US" sz="1800">
                        <a:solidFill>
                          <a:srgbClr val="000000"/>
                        </a:solidFill>
                        <a:latin typeface="Times New Roman"/>
                        <a:ea typeface="Times New Roman"/>
                      </a:endParaRPr>
                    </a:p>
                  </a:txBody>
                  <a:tcPr marL="81392" marR="8139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50000"/>
                        </a:lnSpc>
                        <a:spcBef>
                          <a:spcPts val="0"/>
                        </a:spcBef>
                        <a:spcAft>
                          <a:spcPts val="1200"/>
                        </a:spcAft>
                      </a:pPr>
                      <a:r>
                        <a:rPr lang="en-IN" sz="1800" dirty="0">
                          <a:solidFill>
                            <a:srgbClr val="000000"/>
                          </a:solidFill>
                          <a:latin typeface="Times New Roman"/>
                          <a:ea typeface="Arial"/>
                        </a:rPr>
                        <a:t>20%</a:t>
                      </a:r>
                      <a:endParaRPr lang="en-US" sz="1800" dirty="0">
                        <a:solidFill>
                          <a:srgbClr val="000000"/>
                        </a:solidFill>
                        <a:latin typeface="Times New Roman"/>
                        <a:ea typeface="Times New Roman"/>
                      </a:endParaRPr>
                    </a:p>
                  </a:txBody>
                  <a:tcPr marL="81392" marR="8139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pPr marL="0" marR="0" algn="just">
                        <a:lnSpc>
                          <a:spcPct val="150000"/>
                        </a:lnSpc>
                        <a:spcBef>
                          <a:spcPts val="0"/>
                        </a:spcBef>
                        <a:spcAft>
                          <a:spcPts val="1200"/>
                        </a:spcAft>
                      </a:pPr>
                      <a:endParaRPr lang="en-US" sz="1800" dirty="0">
                        <a:solidFill>
                          <a:srgbClr val="000000"/>
                        </a:solidFill>
                        <a:latin typeface="Times New Roman"/>
                        <a:ea typeface="Times New Roman"/>
                      </a:endParaRPr>
                    </a:p>
                  </a:txBody>
                  <a:tcPr marL="81392" marR="8139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pPr marL="0" marR="0" algn="just">
                        <a:lnSpc>
                          <a:spcPct val="150000"/>
                        </a:lnSpc>
                        <a:spcBef>
                          <a:spcPts val="0"/>
                        </a:spcBef>
                        <a:spcAft>
                          <a:spcPts val="1200"/>
                        </a:spcAft>
                      </a:pPr>
                      <a:endParaRPr lang="en-US" sz="1800" dirty="0">
                        <a:solidFill>
                          <a:srgbClr val="000000"/>
                        </a:solidFill>
                        <a:latin typeface="Times New Roman"/>
                        <a:ea typeface="Times New Roman"/>
                      </a:endParaRPr>
                    </a:p>
                  </a:txBody>
                  <a:tcPr marL="81392" marR="8139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675704">
                <a:tc>
                  <a:txBody>
                    <a:bodyPr/>
                    <a:lstStyle/>
                    <a:p>
                      <a:pPr marL="0" marR="0" algn="just">
                        <a:lnSpc>
                          <a:spcPct val="150000"/>
                        </a:lnSpc>
                        <a:spcBef>
                          <a:spcPts val="0"/>
                        </a:spcBef>
                        <a:spcAft>
                          <a:spcPts val="1200"/>
                        </a:spcAft>
                      </a:pPr>
                      <a:r>
                        <a:rPr lang="en-IN" sz="1800">
                          <a:solidFill>
                            <a:srgbClr val="000000"/>
                          </a:solidFill>
                          <a:latin typeface="Times New Roman"/>
                          <a:ea typeface="Arial"/>
                        </a:rPr>
                        <a:t>70%</a:t>
                      </a:r>
                      <a:endParaRPr lang="en-US" sz="1800">
                        <a:solidFill>
                          <a:srgbClr val="000000"/>
                        </a:solidFill>
                        <a:latin typeface="Times New Roman"/>
                        <a:ea typeface="Times New Roman"/>
                      </a:endParaRPr>
                    </a:p>
                  </a:txBody>
                  <a:tcPr marL="81392" marR="8139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50000"/>
                        </a:lnSpc>
                        <a:spcBef>
                          <a:spcPts val="0"/>
                        </a:spcBef>
                        <a:spcAft>
                          <a:spcPts val="1200"/>
                        </a:spcAft>
                      </a:pPr>
                      <a:r>
                        <a:rPr lang="en-IN" sz="1800" dirty="0">
                          <a:solidFill>
                            <a:srgbClr val="000000"/>
                          </a:solidFill>
                          <a:latin typeface="Times New Roman"/>
                          <a:ea typeface="Arial"/>
                        </a:rPr>
                        <a:t>30%</a:t>
                      </a:r>
                      <a:endParaRPr lang="en-US" sz="1800" dirty="0">
                        <a:solidFill>
                          <a:srgbClr val="000000"/>
                        </a:solidFill>
                        <a:latin typeface="Times New Roman"/>
                        <a:ea typeface="Times New Roman"/>
                      </a:endParaRPr>
                    </a:p>
                  </a:txBody>
                  <a:tcPr marL="81392" marR="8139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50000"/>
                        </a:lnSpc>
                        <a:spcBef>
                          <a:spcPts val="0"/>
                        </a:spcBef>
                        <a:spcAft>
                          <a:spcPts val="1200"/>
                        </a:spcAft>
                      </a:pPr>
                      <a:r>
                        <a:rPr lang="en-US" sz="1800" dirty="0">
                          <a:solidFill>
                            <a:srgbClr val="000000"/>
                          </a:solidFill>
                          <a:latin typeface="Times New Roman"/>
                          <a:ea typeface="Times New Roman"/>
                        </a:rPr>
                        <a:t>89%</a:t>
                      </a:r>
                    </a:p>
                  </a:txBody>
                  <a:tcPr marL="81392" marR="8139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50000"/>
                        </a:lnSpc>
                        <a:spcBef>
                          <a:spcPts val="0"/>
                        </a:spcBef>
                        <a:spcAft>
                          <a:spcPts val="1200"/>
                        </a:spcAft>
                      </a:pPr>
                      <a:r>
                        <a:rPr lang="en-US" sz="1800" dirty="0">
                          <a:solidFill>
                            <a:srgbClr val="000000"/>
                          </a:solidFill>
                          <a:latin typeface="Times New Roman"/>
                          <a:ea typeface="Times New Roman"/>
                        </a:rPr>
                        <a:t>95%</a:t>
                      </a:r>
                    </a:p>
                  </a:txBody>
                  <a:tcPr marL="81392" marR="8139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4" name="Slide Number Placeholder 3"/>
          <p:cNvSpPr>
            <a:spLocks noGrp="1"/>
          </p:cNvSpPr>
          <p:nvPr>
            <p:ph type="sldNum" sz="quarter" idx="12"/>
          </p:nvPr>
        </p:nvSpPr>
        <p:spPr/>
        <p:txBody>
          <a:bodyPr/>
          <a:lstStyle/>
          <a:p>
            <a:fld id="{2DD4E219-0C0C-4937-870D-08D46E532289}" type="slidenum">
              <a:rPr lang="en-IN" smtClean="0"/>
              <a:pPr/>
              <a:t>22</a:t>
            </a:fld>
            <a:endParaRPr lang="en-IN"/>
          </a:p>
        </p:txBody>
      </p:sp>
      <p:sp>
        <p:nvSpPr>
          <p:cNvPr id="6" name="Rectangle 5"/>
          <p:cNvSpPr/>
          <p:nvPr/>
        </p:nvSpPr>
        <p:spPr>
          <a:xfrm>
            <a:off x="381000" y="1371600"/>
            <a:ext cx="8305800" cy="579967"/>
          </a:xfrm>
          <a:prstGeom prst="rect">
            <a:avLst/>
          </a:prstGeom>
        </p:spPr>
        <p:txBody>
          <a:bodyPr wrap="square">
            <a:spAutoFit/>
          </a:bodyPr>
          <a:lstStyle/>
          <a:p>
            <a:pPr algn="just">
              <a:lnSpc>
                <a:spcPct val="150000"/>
              </a:lnSpc>
              <a:buFont typeface="Arial" pitchFamily="34" charset="0"/>
              <a:buChar char="•"/>
            </a:pPr>
            <a:r>
              <a:rPr lang="en-IN" sz="2400" dirty="0">
                <a:latin typeface="Times New Roman" pitchFamily="18" charset="0"/>
                <a:cs typeface="Times New Roman" pitchFamily="18" charset="0"/>
              </a:rPr>
              <a:t>   Analyze the results obtained using tables and graphs</a:t>
            </a:r>
          </a:p>
        </p:txBody>
      </p:sp>
    </p:spTree>
    <p:extLst>
      <p:ext uri="{BB962C8B-B14F-4D97-AF65-F5344CB8AC3E}">
        <p14:creationId xmlns:p14="http://schemas.microsoft.com/office/powerpoint/2010/main" val="12946186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2DD4E219-0C0C-4937-870D-08D46E532289}" type="slidenum">
              <a:rPr lang="en-IN" smtClean="0"/>
              <a:pPr/>
              <a:t>23</a:t>
            </a:fld>
            <a:endParaRPr lang="en-IN"/>
          </a:p>
        </p:txBody>
      </p:sp>
      <p:pic>
        <p:nvPicPr>
          <p:cNvPr id="5" name="Picture 4"/>
          <p:cNvPicPr/>
          <p:nvPr/>
        </p:nvPicPr>
        <p:blipFill>
          <a:blip r:embed="rId2">
            <a:extLst>
              <a:ext uri="{28A0092B-C50C-407E-A947-70E740481C1C}">
                <a14:useLocalDpi xmlns:a14="http://schemas.microsoft.com/office/drawing/2010/main" val="0"/>
              </a:ext>
            </a:extLst>
          </a:blip>
          <a:srcRect l="27594" t="15569" r="1297" b="16506"/>
          <a:stretch/>
        </p:blipFill>
        <p:spPr bwMode="auto">
          <a:xfrm>
            <a:off x="838200" y="685800"/>
            <a:ext cx="7467600" cy="4800600"/>
          </a:xfrm>
          <a:prstGeom prst="rect">
            <a:avLst/>
          </a:prstGeom>
          <a:noFill/>
          <a:ln>
            <a:noFill/>
          </a:ln>
        </p:spPr>
      </p:pic>
      <p:sp>
        <p:nvSpPr>
          <p:cNvPr id="31745" name="Rectangle 1"/>
          <p:cNvSpPr>
            <a:spLocks noChangeArrowheads="1"/>
          </p:cNvSpPr>
          <p:nvPr/>
        </p:nvSpPr>
        <p:spPr bwMode="auto">
          <a:xfrm>
            <a:off x="-228600" y="5908816"/>
            <a:ext cx="8915400" cy="36933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b="1" i="0" u="none" strike="noStrike" cap="none" normalizeH="0" baseline="0" dirty="0">
                <a:ln>
                  <a:noFill/>
                </a:ln>
                <a:solidFill>
                  <a:srgbClr val="000000"/>
                </a:solidFill>
                <a:effectLst/>
                <a:latin typeface="Times New Roman" pitchFamily="18" charset="0"/>
                <a:ea typeface="Times New Roman" pitchFamily="18" charset="0"/>
                <a:cs typeface="Times New Roman" pitchFamily="18" charset="0"/>
              </a:rPr>
              <a:t>Figure</a:t>
            </a:r>
            <a:r>
              <a:rPr kumimoji="0" lang="en-US" b="1" i="0" u="none" strike="noStrike" cap="none" normalizeH="0" dirty="0">
                <a:ln>
                  <a:noFill/>
                </a:ln>
                <a:solidFill>
                  <a:srgbClr val="000000"/>
                </a:solidFill>
                <a:effectLst/>
                <a:latin typeface="Times New Roman" pitchFamily="18" charset="0"/>
                <a:ea typeface="Times New Roman" pitchFamily="18" charset="0"/>
                <a:cs typeface="Times New Roman" pitchFamily="18" charset="0"/>
              </a:rPr>
              <a:t> : </a:t>
            </a:r>
            <a:r>
              <a:rPr kumimoji="0" lang="en-US" b="1" i="0" u="none" strike="noStrike" cap="none" normalizeH="0" baseline="0" dirty="0">
                <a:ln>
                  <a:noFill/>
                </a:ln>
                <a:solidFill>
                  <a:srgbClr val="000000"/>
                </a:solidFill>
                <a:effectLst/>
                <a:latin typeface="Times New Roman" pitchFamily="18" charset="0"/>
                <a:ea typeface="Times New Roman" pitchFamily="18" charset="0"/>
                <a:cs typeface="Times New Roman" pitchFamily="18" charset="0"/>
              </a:rPr>
              <a:t>Graph analysis</a:t>
            </a:r>
            <a:endParaRPr kumimoji="0" lang="en-US" b="0" i="0" u="none" strike="noStrike" cap="none" normalizeH="0" baseline="0" dirty="0">
              <a:ln>
                <a:noFill/>
              </a:ln>
              <a:solidFill>
                <a:schemeClr val="tx1"/>
              </a:solidFill>
              <a:effectLst/>
              <a:latin typeface="Times New Roman" pitchFamily="18" charset="0"/>
              <a:cs typeface="Times New Roman"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dirty="0">
                <a:latin typeface="Times New Roman" pitchFamily="18" charset="0"/>
                <a:cs typeface="Times New Roman" pitchFamily="18" charset="0"/>
              </a:rPr>
              <a:t>CONCLUSION &amp; SCOPE FOR FUTURE WORK</a:t>
            </a:r>
          </a:p>
        </p:txBody>
      </p:sp>
      <p:sp>
        <p:nvSpPr>
          <p:cNvPr id="4" name="Slide Number Placeholder 3"/>
          <p:cNvSpPr>
            <a:spLocks noGrp="1"/>
          </p:cNvSpPr>
          <p:nvPr>
            <p:ph type="sldNum" sz="quarter" idx="12"/>
          </p:nvPr>
        </p:nvSpPr>
        <p:spPr/>
        <p:txBody>
          <a:bodyPr/>
          <a:lstStyle/>
          <a:p>
            <a:fld id="{2DD4E219-0C0C-4937-870D-08D46E532289}" type="slidenum">
              <a:rPr lang="en-IN" smtClean="0"/>
              <a:pPr/>
              <a:t>24</a:t>
            </a:fld>
            <a:endParaRPr lang="en-IN"/>
          </a:p>
        </p:txBody>
      </p:sp>
      <p:sp>
        <p:nvSpPr>
          <p:cNvPr id="7" name="Content Placeholder 2">
            <a:extLst>
              <a:ext uri="{FF2B5EF4-FFF2-40B4-BE49-F238E27FC236}">
                <a16:creationId xmlns:a16="http://schemas.microsoft.com/office/drawing/2014/main" id="{07F82F55-560A-DB2F-9BE7-EC4C8B106E0C}"/>
              </a:ext>
            </a:extLst>
          </p:cNvPr>
          <p:cNvSpPr>
            <a:spLocks noGrp="1"/>
          </p:cNvSpPr>
          <p:nvPr>
            <p:ph idx="1"/>
          </p:nvPr>
        </p:nvSpPr>
        <p:spPr>
          <a:xfrm>
            <a:off x="457200" y="1600200"/>
            <a:ext cx="8229600" cy="4525963"/>
          </a:xfrm>
        </p:spPr>
        <p:txBody>
          <a:bodyPr>
            <a:normAutofit/>
          </a:bodyPr>
          <a:lstStyle/>
          <a:p>
            <a:pPr algn="just">
              <a:lnSpc>
                <a:spcPct val="150000"/>
              </a:lnSpc>
            </a:pPr>
            <a:r>
              <a:rPr lang="en-US" sz="2400" dirty="0">
                <a:latin typeface="Times New Roman" panose="02020603050405020304" pitchFamily="18" charset="0"/>
                <a:cs typeface="Times New Roman" panose="02020603050405020304" pitchFamily="18" charset="0"/>
              </a:rPr>
              <a:t>Application in healthcare for early diagnosis and monitoring</a:t>
            </a:r>
          </a:p>
          <a:p>
            <a:pPr algn="just">
              <a:lnSpc>
                <a:spcPct val="150000"/>
              </a:lnSpc>
            </a:pPr>
            <a:r>
              <a:rPr lang="en-US" sz="2400" dirty="0">
                <a:latin typeface="Times New Roman" panose="02020603050405020304" pitchFamily="18" charset="0"/>
                <a:cs typeface="Times New Roman" panose="02020603050405020304" pitchFamily="18" charset="0"/>
              </a:rPr>
              <a:t>Real-World Deployments like Integration into smartphone apps for widespread accessibility.</a:t>
            </a:r>
          </a:p>
          <a:p>
            <a:pPr algn="just">
              <a:lnSpc>
                <a:spcPct val="150000"/>
              </a:lnSpc>
            </a:pPr>
            <a:r>
              <a:rPr lang="en-US" sz="2400" dirty="0">
                <a:latin typeface="Times New Roman" panose="02020603050405020304" pitchFamily="18" charset="0"/>
                <a:cs typeface="Times New Roman" panose="02020603050405020304" pitchFamily="18" charset="0"/>
              </a:rPr>
              <a:t>Addressing ethical, privacy, and generalization challenges will be critical for real-world implementation.</a:t>
            </a:r>
          </a:p>
          <a:p>
            <a:pPr algn="just">
              <a:lnSpc>
                <a:spcPct val="150000"/>
              </a:lnSpc>
            </a:pPr>
            <a:r>
              <a:rPr lang="en-IN" sz="2400" dirty="0">
                <a:latin typeface="Times New Roman" panose="02020603050405020304" pitchFamily="18" charset="0"/>
                <a:cs typeface="Times New Roman" panose="02020603050405020304" pitchFamily="18" charset="0"/>
              </a:rPr>
              <a:t>Multimodal Data Integration of face and text to speech analysis.</a:t>
            </a:r>
          </a:p>
          <a:p>
            <a:endParaRPr lang="en-IN" dirty="0"/>
          </a:p>
        </p:txBody>
      </p:sp>
    </p:spTree>
    <p:extLst>
      <p:ext uri="{BB962C8B-B14F-4D97-AF65-F5344CB8AC3E}">
        <p14:creationId xmlns:p14="http://schemas.microsoft.com/office/powerpoint/2010/main" val="30687497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dirty="0">
                <a:latin typeface="Times New Roman" pitchFamily="18" charset="0"/>
                <a:cs typeface="Times New Roman" pitchFamily="18" charset="0"/>
              </a:rPr>
              <a:t>REFERENCES</a:t>
            </a:r>
            <a:endParaRPr lang="en-US" sz="3200" b="1" dirty="0">
              <a:latin typeface="Times New Roman" pitchFamily="18" charset="0"/>
              <a:cs typeface="Times New Roman" pitchFamily="18" charset="0"/>
            </a:endParaRPr>
          </a:p>
        </p:txBody>
      </p:sp>
      <p:sp>
        <p:nvSpPr>
          <p:cNvPr id="3" name="Content Placeholder 2"/>
          <p:cNvSpPr>
            <a:spLocks noGrp="1"/>
          </p:cNvSpPr>
          <p:nvPr>
            <p:ph idx="1"/>
          </p:nvPr>
        </p:nvSpPr>
        <p:spPr>
          <a:xfrm>
            <a:off x="457200" y="1417638"/>
            <a:ext cx="8229600" cy="5059362"/>
          </a:xfrm>
        </p:spPr>
        <p:txBody>
          <a:bodyPr>
            <a:normAutofit/>
          </a:bodyPr>
          <a:lstStyle/>
          <a:p>
            <a:pPr marL="0" indent="0" algn="just">
              <a:lnSpc>
                <a:spcPct val="150000"/>
              </a:lnSpc>
              <a:buNone/>
            </a:pPr>
            <a:r>
              <a:rPr lang="en-US" sz="2400" dirty="0">
                <a:latin typeface="Times New Roman" pitchFamily="18" charset="0"/>
                <a:cs typeface="Times New Roman" pitchFamily="18" charset="0"/>
              </a:rPr>
              <a:t>[1] Anastasia and P. Simos, "Automatic Assessment of Depression </a:t>
            </a:r>
          </a:p>
          <a:p>
            <a:pPr marL="0" indent="0" algn="just">
              <a:lnSpc>
                <a:spcPct val="150000"/>
              </a:lnSpc>
              <a:buNone/>
            </a:pPr>
            <a:r>
              <a:rPr lang="en-US" sz="2400" dirty="0">
                <a:latin typeface="Times New Roman" pitchFamily="18" charset="0"/>
                <a:cs typeface="Times New Roman" pitchFamily="18" charset="0"/>
              </a:rPr>
              <a:t>Based on Visual Cues: A Systematic Review," IEEE Transactions on Affective Computing, vol. 10, no. 4, pp. 445-470, 2019. </a:t>
            </a:r>
          </a:p>
          <a:p>
            <a:pPr marL="0" indent="0" algn="just">
              <a:lnSpc>
                <a:spcPct val="150000"/>
              </a:lnSpc>
              <a:buNone/>
            </a:pPr>
            <a:r>
              <a:rPr lang="en-US" sz="2400" dirty="0">
                <a:latin typeface="Times New Roman" pitchFamily="18" charset="0"/>
                <a:cs typeface="Times New Roman" pitchFamily="18" charset="0"/>
              </a:rPr>
              <a:t>[2] A. Castiglione and S. Hossain, "Impact of Deep Learning </a:t>
            </a:r>
          </a:p>
          <a:p>
            <a:pPr marL="0" indent="0" algn="just">
              <a:lnSpc>
                <a:spcPct val="150000"/>
              </a:lnSpc>
              <a:buNone/>
            </a:pPr>
            <a:r>
              <a:rPr lang="en-US" sz="2400" dirty="0">
                <a:latin typeface="Times New Roman" pitchFamily="18" charset="0"/>
                <a:cs typeface="Times New Roman" pitchFamily="18" charset="0"/>
              </a:rPr>
              <a:t>Approaches on Facial Expression Recognition in Healthcare </a:t>
            </a:r>
          </a:p>
          <a:p>
            <a:pPr marL="0" indent="0" algn="just">
              <a:lnSpc>
                <a:spcPct val="150000"/>
              </a:lnSpc>
              <a:buNone/>
            </a:pPr>
            <a:r>
              <a:rPr lang="en-US" sz="2400" dirty="0">
                <a:latin typeface="Times New Roman" pitchFamily="18" charset="0"/>
                <a:cs typeface="Times New Roman" pitchFamily="18" charset="0"/>
              </a:rPr>
              <a:t>Industries," EEE Transactions on Industrial Informatics, vol. </a:t>
            </a:r>
          </a:p>
          <a:p>
            <a:pPr marL="0" indent="0" algn="just">
              <a:lnSpc>
                <a:spcPct val="150000"/>
              </a:lnSpc>
              <a:buNone/>
            </a:pPr>
            <a:r>
              <a:rPr lang="en-US" sz="2400" dirty="0">
                <a:latin typeface="Times New Roman" pitchFamily="18" charset="0"/>
                <a:cs typeface="Times New Roman" pitchFamily="18" charset="0"/>
              </a:rPr>
              <a:t>18, no. 8, pp. 5619-5627, 2022. </a:t>
            </a:r>
          </a:p>
          <a:p>
            <a:pPr marL="0" indent="0" algn="just">
              <a:buNone/>
            </a:pPr>
            <a:endParaRPr lang="en-US" sz="2800" dirty="0">
              <a:latin typeface="Times New Roman" pitchFamily="18" charset="0"/>
              <a:cs typeface="Times New Roman" pitchFamily="18" charset="0"/>
            </a:endParaRPr>
          </a:p>
          <a:p>
            <a:endParaRPr lang="en-US" sz="28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2DD4E219-0C0C-4937-870D-08D46E532289}" type="slidenum">
              <a:rPr lang="en-IN" smtClean="0"/>
              <a:pPr/>
              <a:t>25</a:t>
            </a:fld>
            <a:endParaRPr lang="en-IN"/>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B7C61BD-405F-E966-E74D-FD27DC3E26D9}"/>
              </a:ext>
            </a:extLst>
          </p:cNvPr>
          <p:cNvSpPr>
            <a:spLocks noGrp="1"/>
          </p:cNvSpPr>
          <p:nvPr>
            <p:ph idx="1"/>
          </p:nvPr>
        </p:nvSpPr>
        <p:spPr>
          <a:xfrm>
            <a:off x="304800" y="381000"/>
            <a:ext cx="8229600" cy="5715000"/>
          </a:xfrm>
        </p:spPr>
        <p:txBody>
          <a:bodyPr>
            <a:normAutofit fontScale="77500" lnSpcReduction="20000"/>
          </a:bodyPr>
          <a:lstStyle/>
          <a:p>
            <a:pPr marL="0" indent="0" algn="just">
              <a:lnSpc>
                <a:spcPct val="170000"/>
              </a:lnSpc>
              <a:buNone/>
            </a:pPr>
            <a:r>
              <a:rPr lang="en-US" sz="3100" dirty="0">
                <a:latin typeface="Times New Roman" pitchFamily="18" charset="0"/>
                <a:cs typeface="Times New Roman" pitchFamily="18" charset="0"/>
              </a:rPr>
              <a:t>[3]The research paper titled “A deep Learning Approach Towards Multimodal Stress Detection" has the dataset named “</a:t>
            </a:r>
            <a:r>
              <a:rPr lang="en-US" sz="3100" dirty="0" err="1">
                <a:latin typeface="Times New Roman" pitchFamily="18" charset="0"/>
                <a:cs typeface="Times New Roman" pitchFamily="18" charset="0"/>
              </a:rPr>
              <a:t>MuSE</a:t>
            </a:r>
            <a:r>
              <a:rPr lang="en-US" sz="3100" dirty="0">
                <a:latin typeface="Times New Roman" pitchFamily="18" charset="0"/>
                <a:cs typeface="Times New Roman" pitchFamily="18" charset="0"/>
              </a:rPr>
              <a:t>” and the models used are Convolutional-Autoencoders and Recurrent Neural Networks.</a:t>
            </a:r>
          </a:p>
          <a:p>
            <a:pPr marL="0" indent="0" algn="just">
              <a:lnSpc>
                <a:spcPct val="170000"/>
              </a:lnSpc>
              <a:buNone/>
            </a:pPr>
            <a:r>
              <a:rPr lang="en-US" sz="3100" dirty="0">
                <a:latin typeface="Times New Roman" pitchFamily="18" charset="0"/>
                <a:cs typeface="Times New Roman" pitchFamily="18" charset="0"/>
              </a:rPr>
              <a:t>[4]The research paper titled “A  Multimodal Deep Learning   Framework for Mental Disorder Analysis" has the dataset named “Bipolar Disorder Corpus(BDC)”, “Extended Distress Analysis Interview Corpus(E-DAIC)”, “AVEC2019” and the models used are multi-DDAE, Fisher Vector(FV),Paragraph Vector (PV) and Deep Neural Network(DNN).</a:t>
            </a:r>
          </a:p>
          <a:p>
            <a:pPr marL="0" indent="0" algn="just">
              <a:lnSpc>
                <a:spcPct val="150000"/>
              </a:lnSpc>
              <a:buNone/>
            </a:pPr>
            <a:endParaRPr lang="en-US" sz="3200" dirty="0">
              <a:latin typeface="Times New Roman" pitchFamily="18" charset="0"/>
              <a:cs typeface="Times New Roman" pitchFamily="18" charset="0"/>
            </a:endParaRPr>
          </a:p>
          <a:p>
            <a:endParaRPr lang="en-IN" dirty="0"/>
          </a:p>
        </p:txBody>
      </p:sp>
      <p:sp>
        <p:nvSpPr>
          <p:cNvPr id="4" name="Slide Number Placeholder 3">
            <a:extLst>
              <a:ext uri="{FF2B5EF4-FFF2-40B4-BE49-F238E27FC236}">
                <a16:creationId xmlns:a16="http://schemas.microsoft.com/office/drawing/2014/main" id="{E1449B3F-F9DC-F6EB-C8AE-7327947E310E}"/>
              </a:ext>
            </a:extLst>
          </p:cNvPr>
          <p:cNvSpPr>
            <a:spLocks noGrp="1"/>
          </p:cNvSpPr>
          <p:nvPr>
            <p:ph type="sldNum" sz="quarter" idx="12"/>
          </p:nvPr>
        </p:nvSpPr>
        <p:spPr/>
        <p:txBody>
          <a:bodyPr/>
          <a:lstStyle/>
          <a:p>
            <a:fld id="{2DD4E219-0C0C-4937-870D-08D46E532289}" type="slidenum">
              <a:rPr lang="en-IN" smtClean="0"/>
              <a:pPr/>
              <a:t>26</a:t>
            </a:fld>
            <a:endParaRPr lang="en-IN"/>
          </a:p>
        </p:txBody>
      </p:sp>
    </p:spTree>
    <p:extLst>
      <p:ext uri="{BB962C8B-B14F-4D97-AF65-F5344CB8AC3E}">
        <p14:creationId xmlns:p14="http://schemas.microsoft.com/office/powerpoint/2010/main" val="95357442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3574AA-E99C-5B33-218B-871CCC887B52}"/>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941463E4-E156-CC42-6656-403A4BC65AB7}"/>
              </a:ext>
            </a:extLst>
          </p:cNvPr>
          <p:cNvSpPr>
            <a:spLocks noGrp="1"/>
          </p:cNvSpPr>
          <p:nvPr>
            <p:ph idx="1"/>
          </p:nvPr>
        </p:nvSpPr>
        <p:spPr/>
        <p:txBody>
          <a:bodyPr/>
          <a:lstStyle/>
          <a:p>
            <a:pPr marL="0" indent="0">
              <a:lnSpc>
                <a:spcPct val="150000"/>
              </a:lnSpc>
              <a:buNone/>
            </a:pPr>
            <a:r>
              <a:rPr lang="en-US" sz="2800" dirty="0">
                <a:latin typeface="Times New Roman" pitchFamily="18" charset="0"/>
                <a:cs typeface="Times New Roman" pitchFamily="18" charset="0"/>
              </a:rPr>
              <a:t>[5] The research paper titled “A deep Learning Approach Towards Multimodal Stress Detection" has the dataset named “</a:t>
            </a:r>
            <a:r>
              <a:rPr lang="en-US" sz="2800" dirty="0" err="1">
                <a:latin typeface="Times New Roman" pitchFamily="18" charset="0"/>
                <a:cs typeface="Times New Roman" pitchFamily="18" charset="0"/>
              </a:rPr>
              <a:t>MuSE</a:t>
            </a:r>
            <a:r>
              <a:rPr lang="en-US" sz="2800" dirty="0">
                <a:latin typeface="Times New Roman" pitchFamily="18" charset="0"/>
                <a:cs typeface="Times New Roman" pitchFamily="18" charset="0"/>
              </a:rPr>
              <a:t>” and the models used are Convolutional-Autoencoders and Recurrent Neural Networks.</a:t>
            </a:r>
          </a:p>
          <a:p>
            <a:endParaRPr lang="en-IN" dirty="0"/>
          </a:p>
        </p:txBody>
      </p:sp>
      <p:sp>
        <p:nvSpPr>
          <p:cNvPr id="4" name="Slide Number Placeholder 3">
            <a:extLst>
              <a:ext uri="{FF2B5EF4-FFF2-40B4-BE49-F238E27FC236}">
                <a16:creationId xmlns:a16="http://schemas.microsoft.com/office/drawing/2014/main" id="{5781A777-1712-5B99-E944-79A16CCF0648}"/>
              </a:ext>
            </a:extLst>
          </p:cNvPr>
          <p:cNvSpPr>
            <a:spLocks noGrp="1"/>
          </p:cNvSpPr>
          <p:nvPr>
            <p:ph type="sldNum" sz="quarter" idx="12"/>
          </p:nvPr>
        </p:nvSpPr>
        <p:spPr/>
        <p:txBody>
          <a:bodyPr/>
          <a:lstStyle/>
          <a:p>
            <a:fld id="{2DD4E219-0C0C-4937-870D-08D46E532289}" type="slidenum">
              <a:rPr lang="en-IN" smtClean="0"/>
              <a:pPr/>
              <a:t>27</a:t>
            </a:fld>
            <a:endParaRPr lang="en-IN"/>
          </a:p>
        </p:txBody>
      </p:sp>
    </p:spTree>
    <p:extLst>
      <p:ext uri="{BB962C8B-B14F-4D97-AF65-F5344CB8AC3E}">
        <p14:creationId xmlns:p14="http://schemas.microsoft.com/office/powerpoint/2010/main" val="132080864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2492896"/>
            <a:ext cx="8229600" cy="1143000"/>
          </a:xfrm>
        </p:spPr>
        <p:txBody>
          <a:bodyPr>
            <a:normAutofit/>
          </a:bodyPr>
          <a:lstStyle/>
          <a:p>
            <a:r>
              <a:rPr lang="en-IN" sz="4000" b="1" dirty="0">
                <a:latin typeface="Times New Roman" pitchFamily="18" charset="0"/>
                <a:cs typeface="Times New Roman" pitchFamily="18" charset="0"/>
              </a:rPr>
              <a:t>Thank You</a:t>
            </a:r>
          </a:p>
        </p:txBody>
      </p:sp>
      <p:sp>
        <p:nvSpPr>
          <p:cNvPr id="3" name="Slide Number Placeholder 2"/>
          <p:cNvSpPr>
            <a:spLocks noGrp="1"/>
          </p:cNvSpPr>
          <p:nvPr>
            <p:ph type="sldNum" sz="quarter" idx="12"/>
          </p:nvPr>
        </p:nvSpPr>
        <p:spPr/>
        <p:txBody>
          <a:bodyPr/>
          <a:lstStyle/>
          <a:p>
            <a:fld id="{2DD4E219-0C0C-4937-870D-08D46E532289}" type="slidenum">
              <a:rPr lang="en-IN" smtClean="0"/>
              <a:pPr/>
              <a:t>28</a:t>
            </a:fld>
            <a:endParaRPr lang="en-IN"/>
          </a:p>
        </p:txBody>
      </p:sp>
    </p:spTree>
    <p:extLst>
      <p:ext uri="{BB962C8B-B14F-4D97-AF65-F5344CB8AC3E}">
        <p14:creationId xmlns:p14="http://schemas.microsoft.com/office/powerpoint/2010/main" val="38522098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854</TotalTime>
  <Words>1493</Words>
  <Application>Microsoft Office PowerPoint</Application>
  <PresentationFormat>On-screen Show (4:3)</PresentationFormat>
  <Paragraphs>151</Paragraphs>
  <Slides>28</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28</vt:i4>
      </vt:variant>
    </vt:vector>
  </HeadingPairs>
  <TitlesOfParts>
    <vt:vector size="32" baseType="lpstr">
      <vt:lpstr>Arial</vt:lpstr>
      <vt:lpstr>Calibri</vt:lpstr>
      <vt:lpstr>Times New Roman</vt:lpstr>
      <vt:lpstr>Office Theme</vt:lpstr>
      <vt:lpstr>DEPARTMENT OF COMPUTER SCIENCE &amp; ENGINEERING </vt:lpstr>
      <vt:lpstr>INTRODUCTION</vt:lpstr>
      <vt:lpstr>LITERATURE SURVEY</vt:lpstr>
      <vt:lpstr>PowerPoint Presentation</vt:lpstr>
      <vt:lpstr>PowerPoint Presentation</vt:lpstr>
      <vt:lpstr>PROBLEM STATEMENT</vt:lpstr>
      <vt:lpstr>OBJECTIVES</vt:lpstr>
      <vt:lpstr>PowerPoint Presentation</vt:lpstr>
      <vt:lpstr>METHODOLOGY</vt:lpstr>
      <vt:lpstr>PowerPoint Presentation</vt:lpstr>
      <vt:lpstr>APPLICATIONS</vt:lpstr>
      <vt:lpstr>PowerPoint Presentation</vt:lpstr>
      <vt:lpstr>SYSTEM DESIGN</vt:lpstr>
      <vt:lpstr>ALGORITHMS</vt:lpstr>
      <vt:lpstr>PowerPoint Presentation</vt:lpstr>
      <vt:lpstr>  DATASETS</vt:lpstr>
      <vt:lpstr>PowerPoint Presentation</vt:lpstr>
      <vt:lpstr>HARDWARE AND SOFTWARE REQUIREMENTS</vt:lpstr>
      <vt:lpstr>IMPLEMENTATION</vt:lpstr>
      <vt:lpstr>PowerPoint Presentation</vt:lpstr>
      <vt:lpstr>SYSTEM TESTING</vt:lpstr>
      <vt:lpstr>RESULT ANALYSIS</vt:lpstr>
      <vt:lpstr>PowerPoint Presentation</vt:lpstr>
      <vt:lpstr>CONCLUSION &amp; SCOPE FOR FUTURE WORK</vt:lpstr>
      <vt:lpstr>REFERENCES</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of the project  submitted by  Under the Guidence of Student name   Guide name</dc:title>
  <dc:creator>myLAP</dc:creator>
  <cp:lastModifiedBy>Chaitra Bhat</cp:lastModifiedBy>
  <cp:revision>41</cp:revision>
  <dcterms:created xsi:type="dcterms:W3CDTF">2022-09-28T03:29:41Z</dcterms:created>
  <dcterms:modified xsi:type="dcterms:W3CDTF">2024-12-02T17:26:40Z</dcterms:modified>
</cp:coreProperties>
</file>